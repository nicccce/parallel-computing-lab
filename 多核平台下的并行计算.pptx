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5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3"/>
  </p:sldMasterIdLst>
  <p:notesMasterIdLst>
    <p:notesMasterId r:id="rId6"/>
  </p:notesMasterIdLst>
  <p:sldIdLst>
    <p:sldId id="256" r:id="rId4"/>
    <p:sldId id="271" r:id="rId5"/>
    <p:sldId id="302" r:id="rId7"/>
    <p:sldId id="303" r:id="rId8"/>
    <p:sldId id="277" r:id="rId9"/>
    <p:sldId id="284" r:id="rId10"/>
    <p:sldId id="260" r:id="rId11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8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71" userDrawn="1">
          <p15:clr>
            <a:srgbClr val="A4A3A4"/>
          </p15:clr>
        </p15:guide>
        <p15:guide id="4" pos="7219" userDrawn="1">
          <p15:clr>
            <a:srgbClr val="A4A3A4"/>
          </p15:clr>
        </p15:guide>
        <p15:guide id="5" orient="horz" pos="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0D14"/>
    <a:srgbClr val="000000"/>
    <a:srgbClr val="940D14"/>
    <a:srgbClr val="FFFFFF"/>
    <a:srgbClr val="870B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51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696" y="732"/>
      </p:cViewPr>
      <p:guideLst>
        <p:guide orient="horz" pos="2218"/>
        <p:guide pos="3840"/>
        <p:guide pos="471"/>
        <p:guide pos="7219"/>
        <p:guide orient="horz" pos="878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gs" Target="tags/tag6.xml"/><Relationship Id="rId16" Type="http://schemas.openxmlformats.org/officeDocument/2006/relationships/customXml" Target="../customXml/item1.xml"/><Relationship Id="rId15" Type="http://schemas.openxmlformats.org/officeDocument/2006/relationships/customXmlProps" Target="../customXml/itemProps5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51F96-85B0-480F-8B54-F79187E3EF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BADCDF-FBBD-4D8C-96C1-608A276DBA2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jpe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jpeg"/><Relationship Id="rId3" Type="http://schemas.openxmlformats.org/officeDocument/2006/relationships/image" Target="../media/image1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jpeg"/><Relationship Id="rId3" Type="http://schemas.openxmlformats.org/officeDocument/2006/relationships/image" Target="../media/image4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jpeg"/><Relationship Id="rId3" Type="http://schemas.openxmlformats.org/officeDocument/2006/relationships/image" Target="../media/image1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91" b="14193"/>
          <a:stretch>
            <a:fillRect/>
          </a:stretch>
        </p:blipFill>
        <p:spPr>
          <a:xfrm>
            <a:off x="1" y="0"/>
            <a:ext cx="12192000" cy="48387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12192000" cy="4838700"/>
          </a:xfrm>
          <a:prstGeom prst="rect">
            <a:avLst/>
          </a:prstGeom>
          <a:solidFill>
            <a:schemeClr val="tx1">
              <a:alpha val="8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9" name="矩形 8"/>
          <p:cNvSpPr/>
          <p:nvPr userDrawn="1"/>
        </p:nvSpPr>
        <p:spPr>
          <a:xfrm>
            <a:off x="0" y="4838700"/>
            <a:ext cx="12192000" cy="1143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占位符 4"/>
          <p:cNvSpPr>
            <a:spLocks noGrp="1"/>
          </p:cNvSpPr>
          <p:nvPr>
            <p:ph type="body" sz="quarter" idx="11" hasCustomPrompt="1"/>
          </p:nvPr>
        </p:nvSpPr>
        <p:spPr>
          <a:xfrm>
            <a:off x="3826510" y="5604510"/>
            <a:ext cx="4538980" cy="125349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汇报人：大山</a:t>
            </a:r>
            <a:endParaRPr lang="zh-CN" altLang="en-US" dirty="0"/>
          </a:p>
          <a:p>
            <a:pPr lvl="0"/>
            <a:r>
              <a:rPr lang="zh-CN" altLang="en-US" dirty="0"/>
              <a:t>时间：</a:t>
            </a:r>
            <a:r>
              <a:rPr lang="en-US" altLang="zh-CN" dirty="0"/>
              <a:t>20xx</a:t>
            </a:r>
            <a:r>
              <a:rPr lang="zh-CN" altLang="en-US" dirty="0"/>
              <a:t>年</a:t>
            </a:r>
            <a:r>
              <a:rPr lang="en-US" altLang="zh-CN" dirty="0"/>
              <a:t>x</a:t>
            </a:r>
            <a:r>
              <a:rPr lang="zh-CN" altLang="en-US" dirty="0"/>
              <a:t>月</a:t>
            </a:r>
            <a:r>
              <a:rPr lang="en-US" altLang="zh-CN" dirty="0"/>
              <a:t>x</a:t>
            </a:r>
            <a:r>
              <a:rPr lang="zh-CN" altLang="en-US" dirty="0"/>
              <a:t>日</a:t>
            </a:r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838200" y="1908274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sz="8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1673" y="221580"/>
            <a:ext cx="2072648" cy="7429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DSC_3189"/>
          <p:cNvPicPr>
            <a:picLocks noChangeAspect="1"/>
          </p:cNvPicPr>
          <p:nvPr userDrawn="1"/>
        </p:nvPicPr>
        <p:blipFill>
          <a:blip r:embed="rId2"/>
          <a:srcRect l="6192" r="6635"/>
          <a:stretch>
            <a:fillRect/>
          </a:stretch>
        </p:blipFill>
        <p:spPr>
          <a:xfrm>
            <a:off x="0" y="0"/>
            <a:ext cx="3996055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0"/>
            <a:ext cx="3995879" cy="6858000"/>
          </a:xfrm>
          <a:prstGeom prst="rect">
            <a:avLst/>
          </a:prstGeom>
          <a:solidFill>
            <a:schemeClr val="tx1">
              <a:alpha val="8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5691" y="-82146"/>
            <a:ext cx="3853006" cy="370059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48" t="18494" r="7827" b="22803"/>
          <a:stretch>
            <a:fillRect/>
          </a:stretch>
        </p:blipFill>
        <p:spPr>
          <a:xfrm>
            <a:off x="9992873" y="227655"/>
            <a:ext cx="1855156" cy="60361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-624114" y="4905830"/>
            <a:ext cx="139482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图片 4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4" t="33462" r="1274" b="30750"/>
          <a:stretch>
            <a:fillRect/>
          </a:stretch>
        </p:blipFill>
        <p:spPr>
          <a:xfrm>
            <a:off x="0" y="1847850"/>
            <a:ext cx="12192000" cy="2990850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086" b="17049"/>
          <a:stretch>
            <a:fillRect/>
          </a:stretch>
        </p:blipFill>
        <p:spPr>
          <a:xfrm>
            <a:off x="0" y="1878540"/>
            <a:ext cx="12192000" cy="2997201"/>
          </a:xfrm>
          <a:prstGeom prst="rect">
            <a:avLst/>
          </a:prstGeom>
        </p:spPr>
      </p:pic>
      <p:sp>
        <p:nvSpPr>
          <p:cNvPr id="49" name="矩形 48"/>
          <p:cNvSpPr/>
          <p:nvPr userDrawn="1"/>
        </p:nvSpPr>
        <p:spPr>
          <a:xfrm>
            <a:off x="0" y="1829470"/>
            <a:ext cx="12192000" cy="3046271"/>
          </a:xfrm>
          <a:prstGeom prst="rect">
            <a:avLst/>
          </a:prstGeom>
          <a:solidFill>
            <a:schemeClr val="tx1">
              <a:alpha val="8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占位符 50"/>
          <p:cNvSpPr>
            <a:spLocks noGrp="1"/>
          </p:cNvSpPr>
          <p:nvPr>
            <p:ph type="body" sz="quarter" idx="10" hasCustomPrompt="1"/>
          </p:nvPr>
        </p:nvSpPr>
        <p:spPr>
          <a:xfrm>
            <a:off x="-10706" y="2700990"/>
            <a:ext cx="12202706" cy="128456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4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4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点击输入章节标题</a:t>
            </a:r>
            <a:endParaRPr lang="zh-CN" altLang="en-US" dirty="0"/>
          </a:p>
        </p:txBody>
      </p:sp>
      <p:pic>
        <p:nvPicPr>
          <p:cNvPr id="112" name="图片 111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48" t="18494" r="7827" b="22803"/>
          <a:stretch>
            <a:fillRect/>
          </a:stretch>
        </p:blipFill>
        <p:spPr>
          <a:xfrm>
            <a:off x="9982482" y="1171389"/>
            <a:ext cx="1855156" cy="60361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/>
          <p:cNvSpPr/>
          <p:nvPr userDrawn="1"/>
        </p:nvSpPr>
        <p:spPr>
          <a:xfrm>
            <a:off x="5661598" y="99834"/>
            <a:ext cx="923352" cy="916166"/>
          </a:xfrm>
          <a:prstGeom prst="ellipse">
            <a:avLst/>
          </a:prstGeom>
          <a:solidFill>
            <a:srgbClr val="940D14"/>
          </a:solidFill>
          <a:ln w="38100">
            <a:solidFill>
              <a:srgbClr val="940D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0" y="-1"/>
            <a:ext cx="12240000" cy="648000"/>
          </a:xfrm>
          <a:prstGeom prst="rect">
            <a:avLst/>
          </a:prstGeom>
          <a:solidFill>
            <a:srgbClr val="940D14"/>
          </a:solidFill>
          <a:ln>
            <a:solidFill>
              <a:srgbClr val="940D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 flipV="1">
            <a:off x="-43247" y="539283"/>
            <a:ext cx="5649702" cy="36000"/>
          </a:xfrm>
          <a:prstGeom prst="rect">
            <a:avLst/>
          </a:prstGeom>
          <a:solidFill>
            <a:srgbClr val="940D1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/>
          <a:srcRect b="47475"/>
          <a:stretch>
            <a:fillRect/>
          </a:stretch>
        </p:blipFill>
        <p:spPr>
          <a:xfrm>
            <a:off x="5606455" y="52165"/>
            <a:ext cx="1033638" cy="531567"/>
          </a:xfrm>
          <a:prstGeom prst="rect">
            <a:avLst/>
          </a:prstGeom>
          <a:solidFill>
            <a:srgbClr val="940D14"/>
          </a:solidFill>
        </p:spPr>
      </p:pic>
      <p:sp>
        <p:nvSpPr>
          <p:cNvPr id="15" name="矩形 14"/>
          <p:cNvSpPr/>
          <p:nvPr userDrawn="1"/>
        </p:nvSpPr>
        <p:spPr>
          <a:xfrm flipV="1">
            <a:off x="6640093" y="529564"/>
            <a:ext cx="5551907" cy="45719"/>
          </a:xfrm>
          <a:prstGeom prst="rect">
            <a:avLst/>
          </a:prstGeom>
          <a:solidFill>
            <a:srgbClr val="940D1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5668913" y="113827"/>
            <a:ext cx="902173" cy="902173"/>
            <a:chOff x="1775911" y="868996"/>
            <a:chExt cx="1062539" cy="1062539"/>
          </a:xfrm>
        </p:grpSpPr>
        <p:sp>
          <p:nvSpPr>
            <p:cNvPr id="17" name="椭圆 16"/>
            <p:cNvSpPr/>
            <p:nvPr/>
          </p:nvSpPr>
          <p:spPr>
            <a:xfrm>
              <a:off x="1787817" y="877194"/>
              <a:ext cx="1039486" cy="10394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5911" y="868996"/>
              <a:ext cx="1062539" cy="1062539"/>
            </a:xfrm>
            <a:prstGeom prst="rect">
              <a:avLst/>
            </a:prstGeom>
          </p:spPr>
        </p:pic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83202" y="-53986"/>
            <a:ext cx="2597121" cy="7559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287733" y="-65452"/>
            <a:ext cx="2597121" cy="74987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38" b="14191"/>
          <a:stretch>
            <a:fillRect/>
          </a:stretch>
        </p:blipFill>
        <p:spPr>
          <a:xfrm>
            <a:off x="0" y="780023"/>
            <a:ext cx="12192000" cy="5387786"/>
          </a:xfrm>
          <a:prstGeom prst="rect">
            <a:avLst/>
          </a:prstGeom>
        </p:spPr>
      </p:pic>
      <p:sp>
        <p:nvSpPr>
          <p:cNvPr id="134" name="矩形 133"/>
          <p:cNvSpPr/>
          <p:nvPr userDrawn="1"/>
        </p:nvSpPr>
        <p:spPr>
          <a:xfrm>
            <a:off x="0" y="780023"/>
            <a:ext cx="12192000" cy="5385715"/>
          </a:xfrm>
          <a:prstGeom prst="rect">
            <a:avLst/>
          </a:prstGeom>
          <a:solidFill>
            <a:schemeClr val="tx1">
              <a:alpha val="8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3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1784459" y="2553766"/>
            <a:ext cx="8752237" cy="12800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8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lang="zh-CN" altLang="en-US" sz="4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lang="zh-CN" altLang="en-US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228600" lvl="0" indent="-228600" algn="ctr"/>
            <a:r>
              <a:rPr lang="zh-CN" altLang="en-US" dirty="0"/>
              <a:t>编辑母版文本样式</a:t>
            </a:r>
            <a:endParaRPr lang="en-US" altLang="zh-CN" dirty="0"/>
          </a:p>
        </p:txBody>
      </p:sp>
      <p:sp>
        <p:nvSpPr>
          <p:cNvPr id="196" name="文本占位符 4"/>
          <p:cNvSpPr>
            <a:spLocks noGrp="1"/>
          </p:cNvSpPr>
          <p:nvPr>
            <p:ph type="body" sz="quarter" idx="11" hasCustomPrompt="1"/>
          </p:nvPr>
        </p:nvSpPr>
        <p:spPr>
          <a:xfrm>
            <a:off x="3891052" y="4789356"/>
            <a:ext cx="4539050" cy="50425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20XX</a:t>
            </a:r>
            <a:r>
              <a:rPr lang="zh-CN" altLang="en-US" dirty="0"/>
              <a:t>年</a:t>
            </a:r>
            <a:r>
              <a:rPr lang="en-US" altLang="zh-CN" dirty="0"/>
              <a:t>X</a:t>
            </a:r>
            <a:r>
              <a:rPr lang="zh-CN" altLang="en-US" dirty="0"/>
              <a:t>月</a:t>
            </a:r>
            <a:r>
              <a:rPr lang="en-US" altLang="zh-CN" dirty="0"/>
              <a:t>X</a:t>
            </a:r>
            <a:r>
              <a:rPr lang="zh-CN" altLang="en-US" dirty="0"/>
              <a:t>日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0372" y="1096697"/>
            <a:ext cx="2072648" cy="7429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91" b="14193"/>
          <a:stretch>
            <a:fillRect/>
          </a:stretch>
        </p:blipFill>
        <p:spPr>
          <a:xfrm>
            <a:off x="1" y="0"/>
            <a:ext cx="12192000" cy="48387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12192000" cy="4838700"/>
          </a:xfrm>
          <a:prstGeom prst="rect">
            <a:avLst/>
          </a:prstGeom>
          <a:solidFill>
            <a:schemeClr val="tx1">
              <a:alpha val="8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9" name="矩形 8"/>
          <p:cNvSpPr/>
          <p:nvPr userDrawn="1"/>
        </p:nvSpPr>
        <p:spPr>
          <a:xfrm>
            <a:off x="0" y="4838700"/>
            <a:ext cx="12192000" cy="1143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占位符 4"/>
          <p:cNvSpPr>
            <a:spLocks noGrp="1"/>
          </p:cNvSpPr>
          <p:nvPr>
            <p:ph type="body" sz="quarter" idx="11" hasCustomPrompt="1"/>
          </p:nvPr>
        </p:nvSpPr>
        <p:spPr>
          <a:xfrm>
            <a:off x="3826475" y="5604504"/>
            <a:ext cx="4539050" cy="50425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汇报人：</a:t>
            </a:r>
            <a:r>
              <a:rPr lang="en-US" altLang="zh-CN" dirty="0"/>
              <a:t>xxx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838200" y="1908274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sz="8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1673" y="221580"/>
            <a:ext cx="2072648" cy="7429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92" b="15294"/>
          <a:stretch>
            <a:fillRect/>
          </a:stretch>
        </p:blipFill>
        <p:spPr>
          <a:xfrm>
            <a:off x="-63501" y="0"/>
            <a:ext cx="4255933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0"/>
            <a:ext cx="3995879" cy="6858000"/>
          </a:xfrm>
          <a:prstGeom prst="rect">
            <a:avLst/>
          </a:prstGeom>
          <a:solidFill>
            <a:schemeClr val="tx1">
              <a:alpha val="8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5691" y="-82146"/>
            <a:ext cx="3853006" cy="370059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48" t="18494" r="7827" b="22803"/>
          <a:stretch>
            <a:fillRect/>
          </a:stretch>
        </p:blipFill>
        <p:spPr>
          <a:xfrm>
            <a:off x="9992873" y="227655"/>
            <a:ext cx="1855156" cy="60361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-624114" y="4905830"/>
            <a:ext cx="139482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图片 4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4" t="33462" r="1274" b="30750"/>
          <a:stretch>
            <a:fillRect/>
          </a:stretch>
        </p:blipFill>
        <p:spPr>
          <a:xfrm>
            <a:off x="0" y="1847850"/>
            <a:ext cx="12192000" cy="2990850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086" b="17049"/>
          <a:stretch>
            <a:fillRect/>
          </a:stretch>
        </p:blipFill>
        <p:spPr>
          <a:xfrm>
            <a:off x="0" y="1878540"/>
            <a:ext cx="12192000" cy="2997201"/>
          </a:xfrm>
          <a:prstGeom prst="rect">
            <a:avLst/>
          </a:prstGeom>
        </p:spPr>
      </p:pic>
      <p:sp>
        <p:nvSpPr>
          <p:cNvPr id="49" name="矩形 48"/>
          <p:cNvSpPr/>
          <p:nvPr userDrawn="1"/>
        </p:nvSpPr>
        <p:spPr>
          <a:xfrm>
            <a:off x="0" y="1829470"/>
            <a:ext cx="12192000" cy="3046271"/>
          </a:xfrm>
          <a:prstGeom prst="rect">
            <a:avLst/>
          </a:prstGeom>
          <a:solidFill>
            <a:schemeClr val="tx1">
              <a:alpha val="8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占位符 50"/>
          <p:cNvSpPr>
            <a:spLocks noGrp="1"/>
          </p:cNvSpPr>
          <p:nvPr>
            <p:ph type="body" sz="quarter" idx="10" hasCustomPrompt="1"/>
          </p:nvPr>
        </p:nvSpPr>
        <p:spPr>
          <a:xfrm>
            <a:off x="-10706" y="2700990"/>
            <a:ext cx="12202706" cy="128456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4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4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这里输入章节标题</a:t>
            </a:r>
            <a:endParaRPr lang="zh-CN" altLang="en-US" dirty="0"/>
          </a:p>
        </p:txBody>
      </p:sp>
      <p:pic>
        <p:nvPicPr>
          <p:cNvPr id="112" name="图片 111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48" t="18494" r="7827" b="22803"/>
          <a:stretch>
            <a:fillRect/>
          </a:stretch>
        </p:blipFill>
        <p:spPr>
          <a:xfrm>
            <a:off x="9982482" y="1171389"/>
            <a:ext cx="1855156" cy="60361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/>
          <p:cNvSpPr/>
          <p:nvPr userDrawn="1"/>
        </p:nvSpPr>
        <p:spPr>
          <a:xfrm>
            <a:off x="5661598" y="99834"/>
            <a:ext cx="923352" cy="916166"/>
          </a:xfrm>
          <a:prstGeom prst="ellipse">
            <a:avLst/>
          </a:prstGeom>
          <a:solidFill>
            <a:srgbClr val="940D14"/>
          </a:solidFill>
          <a:ln w="38100">
            <a:solidFill>
              <a:srgbClr val="940D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0" y="-1"/>
            <a:ext cx="12240000" cy="648000"/>
          </a:xfrm>
          <a:prstGeom prst="rect">
            <a:avLst/>
          </a:prstGeom>
          <a:solidFill>
            <a:srgbClr val="940D14"/>
          </a:solidFill>
          <a:ln>
            <a:solidFill>
              <a:srgbClr val="940D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 flipV="1">
            <a:off x="-43247" y="539283"/>
            <a:ext cx="5649702" cy="36000"/>
          </a:xfrm>
          <a:prstGeom prst="rect">
            <a:avLst/>
          </a:prstGeom>
          <a:solidFill>
            <a:srgbClr val="940D1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/>
          <a:srcRect b="47475"/>
          <a:stretch>
            <a:fillRect/>
          </a:stretch>
        </p:blipFill>
        <p:spPr>
          <a:xfrm>
            <a:off x="5606455" y="52165"/>
            <a:ext cx="1033638" cy="531567"/>
          </a:xfrm>
          <a:prstGeom prst="rect">
            <a:avLst/>
          </a:prstGeom>
          <a:solidFill>
            <a:srgbClr val="940D14"/>
          </a:solidFill>
        </p:spPr>
      </p:pic>
      <p:sp>
        <p:nvSpPr>
          <p:cNvPr id="15" name="矩形 14"/>
          <p:cNvSpPr/>
          <p:nvPr userDrawn="1"/>
        </p:nvSpPr>
        <p:spPr>
          <a:xfrm flipV="1">
            <a:off x="6640093" y="529564"/>
            <a:ext cx="5551907" cy="45719"/>
          </a:xfrm>
          <a:prstGeom prst="rect">
            <a:avLst/>
          </a:prstGeom>
          <a:solidFill>
            <a:srgbClr val="940D1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5668913" y="113827"/>
            <a:ext cx="902173" cy="902173"/>
            <a:chOff x="1775911" y="868996"/>
            <a:chExt cx="1062539" cy="1062539"/>
          </a:xfrm>
        </p:grpSpPr>
        <p:sp>
          <p:nvSpPr>
            <p:cNvPr id="17" name="椭圆 16"/>
            <p:cNvSpPr/>
            <p:nvPr/>
          </p:nvSpPr>
          <p:spPr>
            <a:xfrm>
              <a:off x="1787817" y="877194"/>
              <a:ext cx="1039486" cy="10394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5911" y="868996"/>
              <a:ext cx="1062539" cy="1062539"/>
            </a:xfrm>
            <a:prstGeom prst="rect">
              <a:avLst/>
            </a:prstGeom>
          </p:spPr>
        </p:pic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83202" y="-53986"/>
            <a:ext cx="2597121" cy="7559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287733" y="-65452"/>
            <a:ext cx="2597121" cy="74987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38" b="14191"/>
          <a:stretch>
            <a:fillRect/>
          </a:stretch>
        </p:blipFill>
        <p:spPr>
          <a:xfrm>
            <a:off x="0" y="780023"/>
            <a:ext cx="12192000" cy="5387786"/>
          </a:xfrm>
          <a:prstGeom prst="rect">
            <a:avLst/>
          </a:prstGeom>
        </p:spPr>
      </p:pic>
      <p:sp>
        <p:nvSpPr>
          <p:cNvPr id="134" name="矩形 133"/>
          <p:cNvSpPr/>
          <p:nvPr userDrawn="1"/>
        </p:nvSpPr>
        <p:spPr>
          <a:xfrm>
            <a:off x="0" y="780023"/>
            <a:ext cx="12192000" cy="5385715"/>
          </a:xfrm>
          <a:prstGeom prst="rect">
            <a:avLst/>
          </a:prstGeom>
          <a:solidFill>
            <a:schemeClr val="tx1">
              <a:alpha val="8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3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1784459" y="2553766"/>
            <a:ext cx="8752237" cy="12800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8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lang="zh-CN" altLang="en-US" sz="4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lang="zh-CN" altLang="en-US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228600" lvl="0" indent="-228600" algn="ctr"/>
            <a:r>
              <a:rPr lang="zh-CN" altLang="en-US" dirty="0"/>
              <a:t>编辑母版文本样式</a:t>
            </a:r>
            <a:endParaRPr lang="en-US" altLang="zh-CN" dirty="0"/>
          </a:p>
        </p:txBody>
      </p:sp>
      <p:sp>
        <p:nvSpPr>
          <p:cNvPr id="196" name="文本占位符 4"/>
          <p:cNvSpPr>
            <a:spLocks noGrp="1"/>
          </p:cNvSpPr>
          <p:nvPr>
            <p:ph type="body" sz="quarter" idx="11" hasCustomPrompt="1"/>
          </p:nvPr>
        </p:nvSpPr>
        <p:spPr>
          <a:xfrm>
            <a:off x="3891052" y="4789356"/>
            <a:ext cx="4539050" cy="50425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20XX</a:t>
            </a:r>
            <a:r>
              <a:rPr lang="zh-CN" altLang="en-US" dirty="0"/>
              <a:t>年</a:t>
            </a:r>
            <a:r>
              <a:rPr lang="en-US" altLang="zh-CN" dirty="0"/>
              <a:t>X</a:t>
            </a:r>
            <a:r>
              <a:rPr lang="zh-CN" altLang="en-US" dirty="0"/>
              <a:t>月</a:t>
            </a:r>
            <a:r>
              <a:rPr lang="en-US" altLang="zh-CN" dirty="0"/>
              <a:t>X</a:t>
            </a:r>
            <a:r>
              <a:rPr lang="zh-CN" altLang="en-US" dirty="0"/>
              <a:t>日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0372" y="1096697"/>
            <a:ext cx="2072648" cy="7429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wrap="square">
            <a:normAutofit/>
          </a:bodyPr>
          <a:lstStyle>
            <a:lvl1pPr algn="ctr"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 wrap="square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 wrap="square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pPr>
              <a:lnSpc>
                <a:spcPct val="100000"/>
              </a:lnSpc>
            </a:pPr>
            <a:r>
              <a:rPr lang="zh-CN" altLang="en-US" sz="6600" dirty="0"/>
              <a:t>多核平台下的并行计算课程实验</a:t>
            </a:r>
            <a:endParaRPr lang="zh-CN" altLang="en-US" sz="6600" dirty="0"/>
          </a:p>
        </p:txBody>
      </p:sp>
      <p:sp>
        <p:nvSpPr>
          <p:cNvPr id="70" name="文本占位符 4"/>
          <p:cNvSpPr>
            <a:spLocks noGrp="1"/>
          </p:cNvSpPr>
          <p:nvPr>
            <p:ph type="body" sz="quarter" idx="11" hasCustomPrompt="1"/>
          </p:nvPr>
        </p:nvSpPr>
        <p:spPr>
          <a:xfrm>
            <a:off x="3826510" y="5604510"/>
            <a:ext cx="4538980" cy="125349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  <a:p>
            <a:pPr lvl="0"/>
            <a:r>
              <a:rPr lang="zh-CN" altLang="en-US" dirty="0"/>
              <a:t>时间：</a:t>
            </a:r>
            <a:r>
              <a:rPr lang="en-US" altLang="zh-CN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4</a:t>
            </a:r>
            <a:r>
              <a:rPr lang="zh-CN" altLang="en-US" dirty="0"/>
              <a:t>月</a:t>
            </a:r>
            <a:r>
              <a:rPr lang="en-US" altLang="zh-CN" dirty="0"/>
              <a:t>3</a:t>
            </a:r>
            <a:r>
              <a:rPr lang="zh-CN" altLang="en-US" dirty="0"/>
              <a:t>日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 30"/>
          <p:cNvSpPr/>
          <p:nvPr/>
        </p:nvSpPr>
        <p:spPr>
          <a:xfrm>
            <a:off x="6534150" y="5352415"/>
            <a:ext cx="5796915" cy="1610360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8825" h="2094">
                <a:moveTo>
                  <a:pt x="8825" y="0"/>
                </a:moveTo>
                <a:lnTo>
                  <a:pt x="8825" y="2094"/>
                </a:lnTo>
                <a:lnTo>
                  <a:pt x="0" y="2094"/>
                </a:lnTo>
                <a:lnTo>
                  <a:pt x="8825" y="0"/>
                </a:lnTo>
                <a:close/>
              </a:path>
            </a:pathLst>
          </a:custGeom>
          <a:gradFill>
            <a:gsLst>
              <a:gs pos="50000">
                <a:schemeClr val="tx1"/>
              </a:gs>
              <a:gs pos="0">
                <a:schemeClr val="tx1">
                  <a:lumMod val="25000"/>
                  <a:lumOff val="75000"/>
                </a:schemeClr>
              </a:gs>
              <a:gs pos="100000">
                <a:schemeClr val="tx1">
                  <a:lumMod val="8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747395" y="857885"/>
            <a:ext cx="3649345" cy="607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ts val="2600"/>
              </a:lnSpc>
            </a:pPr>
            <a:r>
              <a:rPr kumimoji="1"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  <a:cs typeface="Gotham Bold" charset="0"/>
              </a:rPr>
              <a:t>实验</a:t>
            </a:r>
            <a:r>
              <a:rPr kumimoji="1"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  <a:cs typeface="Gotham Bold" charset="0"/>
              </a:rPr>
              <a:t>环境</a:t>
            </a:r>
            <a:endParaRPr kumimoji="1" lang="zh-CN" altLang="en-US" sz="3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  <a:cs typeface="Gotham Bold" charset="0"/>
            </a:endParaRPr>
          </a:p>
        </p:txBody>
      </p:sp>
      <p:sp>
        <p:nvSpPr>
          <p:cNvPr id="29" name="等腰三角形 28"/>
          <p:cNvSpPr/>
          <p:nvPr/>
        </p:nvSpPr>
        <p:spPr>
          <a:xfrm>
            <a:off x="4895850" y="5732780"/>
            <a:ext cx="7435215" cy="1201420"/>
          </a:xfrm>
          <a:prstGeom prst="triangle">
            <a:avLst>
              <a:gd name="adj" fmla="val 52230"/>
            </a:avLst>
          </a:prstGeom>
          <a:solidFill>
            <a:schemeClr val="tx1">
              <a:alpha val="84000"/>
            </a:schemeClr>
          </a:solidFill>
          <a:ln>
            <a:noFill/>
          </a:ln>
          <a:effectLst>
            <a:outerShdw blurRad="228600" dist="38100" algn="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/>
        </p:nvSpPr>
        <p:spPr>
          <a:xfrm>
            <a:off x="-9525" y="6464935"/>
            <a:ext cx="11001375" cy="421640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17325" h="1200">
                <a:moveTo>
                  <a:pt x="8253" y="0"/>
                </a:moveTo>
                <a:lnTo>
                  <a:pt x="17325" y="1200"/>
                </a:lnTo>
                <a:lnTo>
                  <a:pt x="0" y="1200"/>
                </a:lnTo>
                <a:lnTo>
                  <a:pt x="0" y="1092"/>
                </a:lnTo>
                <a:lnTo>
                  <a:pt x="8253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>
            <a:outerShdw blurRad="50800" dist="38100" algn="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746760" y="2040890"/>
            <a:ext cx="10356850" cy="4150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推荐环境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：Linux 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原生环境（首选）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http://cloud.sdu.edu.cn</a:t>
            </a:r>
            <a:endParaRPr lang="en-US" altLang="zh-CN" dirty="0">
              <a:solidFill>
                <a:srgbClr val="00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macOS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可直接使用（类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Unix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，命令与开发流程基本一致）</a:t>
            </a:r>
            <a:endParaRPr lang="zh-CN" altLang="en-US" dirty="0">
              <a:solidFill>
                <a:srgbClr val="00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Windows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使用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WSL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（不建议用原生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CMD/PowerShell 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直接做本实验）</a:t>
            </a:r>
            <a:endParaRPr lang="zh-CN" altLang="en-US" dirty="0">
              <a:solidFill>
                <a:srgbClr val="00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457200" algn="just">
              <a:lnSpc>
                <a:spcPct val="150000"/>
              </a:lnSpc>
            </a:pPr>
            <a:endParaRPr lang="zh-CN" altLang="en-US" dirty="0">
              <a:solidFill>
                <a:srgbClr val="00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457200" algn="just"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编译器：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g++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（支持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OpenMP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）</a:t>
            </a:r>
            <a:endParaRPr lang="zh-CN" altLang="en-US" dirty="0">
              <a:solidFill>
                <a:srgbClr val="00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 30"/>
          <p:cNvSpPr/>
          <p:nvPr/>
        </p:nvSpPr>
        <p:spPr>
          <a:xfrm>
            <a:off x="6534150" y="5352415"/>
            <a:ext cx="5796915" cy="1610360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8825" h="2094">
                <a:moveTo>
                  <a:pt x="8825" y="0"/>
                </a:moveTo>
                <a:lnTo>
                  <a:pt x="8825" y="2094"/>
                </a:lnTo>
                <a:lnTo>
                  <a:pt x="0" y="2094"/>
                </a:lnTo>
                <a:lnTo>
                  <a:pt x="8825" y="0"/>
                </a:lnTo>
                <a:close/>
              </a:path>
            </a:pathLst>
          </a:custGeom>
          <a:gradFill>
            <a:gsLst>
              <a:gs pos="50000">
                <a:schemeClr val="tx1"/>
              </a:gs>
              <a:gs pos="0">
                <a:schemeClr val="tx1">
                  <a:lumMod val="25000"/>
                  <a:lumOff val="75000"/>
                </a:schemeClr>
              </a:gs>
              <a:gs pos="100000">
                <a:schemeClr val="tx1">
                  <a:lumMod val="8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9" name="等腰三角形 28"/>
          <p:cNvSpPr/>
          <p:nvPr/>
        </p:nvSpPr>
        <p:spPr>
          <a:xfrm>
            <a:off x="4895850" y="5732780"/>
            <a:ext cx="7435215" cy="1201420"/>
          </a:xfrm>
          <a:prstGeom prst="triangle">
            <a:avLst>
              <a:gd name="adj" fmla="val 52230"/>
            </a:avLst>
          </a:prstGeom>
          <a:solidFill>
            <a:schemeClr val="tx1">
              <a:alpha val="84000"/>
            </a:schemeClr>
          </a:solidFill>
          <a:ln>
            <a:noFill/>
          </a:ln>
          <a:effectLst>
            <a:outerShdw blurRad="228600" dist="38100" algn="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/>
        </p:nvSpPr>
        <p:spPr>
          <a:xfrm>
            <a:off x="-9525" y="6464935"/>
            <a:ext cx="11001375" cy="421640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17325" h="1200">
                <a:moveTo>
                  <a:pt x="8253" y="0"/>
                </a:moveTo>
                <a:lnTo>
                  <a:pt x="17325" y="1200"/>
                </a:lnTo>
                <a:lnTo>
                  <a:pt x="0" y="1200"/>
                </a:lnTo>
                <a:lnTo>
                  <a:pt x="0" y="1092"/>
                </a:lnTo>
                <a:lnTo>
                  <a:pt x="8253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>
            <a:outerShdw blurRad="50800" dist="38100" algn="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47395" y="857885"/>
            <a:ext cx="3649345" cy="607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ts val="2600"/>
              </a:lnSpc>
            </a:pPr>
            <a:r>
              <a:rPr kumimoji="1"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  <a:cs typeface="Gotham Bold" charset="0"/>
              </a:rPr>
              <a:t>总体</a:t>
            </a:r>
            <a:r>
              <a:rPr kumimoji="1" lang="zh-CN" altLang="en-US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  <a:cs typeface="Gotham Bold" charset="0"/>
              </a:rPr>
              <a:t>流程</a:t>
            </a:r>
            <a:endParaRPr kumimoji="1" lang="zh-CN" altLang="en-US" sz="3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  <a:cs typeface="Gotham Bold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9280" y="1612265"/>
            <a:ext cx="5080000" cy="2476500"/>
          </a:xfrm>
          <a:prstGeom prst="rect">
            <a:avLst/>
          </a:prstGeom>
        </p:spPr>
        <p:txBody>
          <a:bodyPr>
            <a:spAutoFit/>
          </a:bodyPr>
          <a:p>
            <a:pPr marL="0" indent="0" algn="just">
              <a:lnSpc>
                <a:spcPct val="150000"/>
              </a:lnSpc>
              <a:spcBef>
                <a:spcPts val="600"/>
              </a:spcBef>
              <a:buClrTx/>
              <a:buSzTx/>
              <a:buNone/>
            </a:pP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1.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读取序列</a:t>
            </a:r>
            <a:endParaRPr lang="zh-CN" altLang="en-US" sz="1800" b="0" i="0" dirty="0">
              <a:solidFill>
                <a:srgbClr val="00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ClrTx/>
              <a:buSzTx/>
              <a:buNone/>
            </a:pPr>
            <a:r>
              <a:rPr lang="en-US" altLang="zh-CN" sz="1800" b="1" i="0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2.</a:t>
            </a:r>
            <a:r>
              <a:rPr lang="zh-CN" altLang="en-US" sz="1800" b="1" i="0" dirty="0"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对所有序列两两计算 Weighted Jaccard</a:t>
            </a:r>
            <a:endParaRPr lang="zh-CN" altLang="en-US" sz="1800" b="1" i="0" dirty="0">
              <a:solidFill>
                <a:srgbClr val="FF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ClrTx/>
              <a:buSzTx/>
              <a:buNone/>
            </a:pP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3.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达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到阈值则并查集合并</a:t>
            </a:r>
            <a:endParaRPr lang="zh-CN" altLang="en-US" sz="1800" b="0" i="0" dirty="0">
              <a:solidFill>
                <a:srgbClr val="00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ClrTx/>
              <a:buSzTx/>
              <a:buNone/>
            </a:pP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4.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并查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集路径压缩/拍平</a:t>
            </a:r>
            <a:endParaRPr lang="zh-CN" altLang="en-US" sz="1800" b="0" i="0" dirty="0">
              <a:solidFill>
                <a:srgbClr val="00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ClrTx/>
              <a:buSzTx/>
              <a:buNone/>
            </a:pP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5.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输出每个序列对应的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parent</a:t>
            </a:r>
            <a:endParaRPr lang="en-US" altLang="zh-CN" sz="1800" b="0" i="0" dirty="0">
              <a:solidFill>
                <a:srgbClr val="00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175375" y="1370330"/>
            <a:ext cx="5080000" cy="2292350"/>
          </a:xfrm>
          <a:prstGeom prst="rect">
            <a:avLst/>
          </a:prstGeom>
        </p:spPr>
        <p:txBody>
          <a:bodyPr>
            <a:noAutofit/>
          </a:bodyPr>
          <a:p>
            <a:pPr marL="0" algn="just">
              <a:lnSpc>
                <a:spcPct val="150000"/>
              </a:lnSpc>
              <a:spcBef>
                <a:spcPts val="600"/>
              </a:spcBef>
              <a:buClrTx/>
              <a:buSzTx/>
              <a:buFontTx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输入：FASTA序列文件</a:t>
            </a:r>
            <a:endParaRPr lang="zh-CN" altLang="en-US" sz="1800" b="0" i="0" dirty="0">
              <a:solidFill>
                <a:srgbClr val="00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0" algn="just">
              <a:lnSpc>
                <a:spcPct val="150000"/>
              </a:lnSpc>
              <a:spcBef>
                <a:spcPts val="600"/>
              </a:spcBef>
              <a:buClrTx/>
              <a:buSzTx/>
              <a:buFontTx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数据格式（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&gt;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后面是序列名字，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第二行为序列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）</a:t>
            </a:r>
            <a:endParaRPr lang="zh-CN" altLang="en-US" sz="1800" b="0" i="0" dirty="0">
              <a:solidFill>
                <a:srgbClr val="00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buClrTx/>
              <a:buSzTx/>
              <a:buNone/>
            </a:pP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&gt;WP_048705805.1</a:t>
            </a:r>
            <a:endParaRPr lang="zh-CN" altLang="en-US" dirty="0">
              <a:solidFill>
                <a:srgbClr val="00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buClrTx/>
              <a:buSzTx/>
              <a:buNone/>
            </a:pP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MNVTQALISVSDKRGVLDFARELASLGIKLLST</a:t>
            </a:r>
            <a:endParaRPr lang="zh-CN" altLang="en-US" dirty="0">
              <a:solidFill>
                <a:srgbClr val="00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0" algn="just">
              <a:lnSpc>
                <a:spcPct val="150000"/>
              </a:lnSpc>
              <a:spcBef>
                <a:spcPts val="600"/>
              </a:spcBef>
              <a:buClrTx/>
              <a:buSzTx/>
              <a:buFontTx/>
            </a:pPr>
            <a:endParaRPr lang="zh-CN" altLang="en-US" sz="1800" b="0" i="0" dirty="0">
              <a:solidFill>
                <a:srgbClr val="00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75375" y="3539490"/>
            <a:ext cx="5654040" cy="1983740"/>
          </a:xfrm>
          <a:prstGeom prst="rect">
            <a:avLst/>
          </a:prstGeom>
        </p:spPr>
        <p:txBody>
          <a:bodyPr wrap="square">
            <a:spAutoFit/>
          </a:bodyPr>
          <a:p>
            <a:pPr marL="0" algn="just">
              <a:lnSpc>
                <a:spcPct val="150000"/>
              </a:lnSpc>
              <a:spcBef>
                <a:spcPts val="600"/>
              </a:spcBef>
              <a:buClrTx/>
              <a:buSzTx/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k-mer （把序列转成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“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词频向量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”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，便于做相似度计算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）</a:t>
            </a:r>
            <a:endParaRPr lang="zh-CN" altLang="en-US" sz="1800" b="0" i="0" dirty="0">
              <a:solidFill>
                <a:srgbClr val="00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0" algn="just">
              <a:lnSpc>
                <a:spcPct val="150000"/>
              </a:lnSpc>
              <a:spcBef>
                <a:spcPts val="600"/>
              </a:spcBef>
              <a:buClrTx/>
              <a:buSzTx/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设置 k=3（实验默认）</a:t>
            </a:r>
            <a:endParaRPr lang="zh-CN" altLang="en-US" sz="1800" b="0" i="0" dirty="0">
              <a:solidFill>
                <a:srgbClr val="00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ClrTx/>
              <a:buSzTx/>
              <a:buFont typeface="Arial" panose="020B0604020202090204"/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对每条序列滑窗统计 3-mer 频次</a:t>
            </a:r>
            <a:endParaRPr lang="zh-CN" altLang="en-US" sz="1800" b="0" i="0" dirty="0">
              <a:solidFill>
                <a:srgbClr val="00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0" indent="0" algn="just">
              <a:lnSpc>
                <a:spcPct val="150000"/>
              </a:lnSpc>
              <a:spcBef>
                <a:spcPts val="600"/>
              </a:spcBef>
              <a:buClrTx/>
              <a:buSzTx/>
              <a:buFont typeface="Arial" panose="020B0604020202090204"/>
              <a:buNone/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一条长为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的蛋白质序列可以产生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n-k+1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个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k-mer</a:t>
            </a:r>
            <a:endParaRPr lang="zh-CN" altLang="en-US" sz="1800" b="0" i="0" dirty="0">
              <a:solidFill>
                <a:srgbClr val="00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 30"/>
          <p:cNvSpPr/>
          <p:nvPr/>
        </p:nvSpPr>
        <p:spPr>
          <a:xfrm>
            <a:off x="6534150" y="5352415"/>
            <a:ext cx="5796915" cy="1610360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8825" h="2094">
                <a:moveTo>
                  <a:pt x="8825" y="0"/>
                </a:moveTo>
                <a:lnTo>
                  <a:pt x="8825" y="2094"/>
                </a:lnTo>
                <a:lnTo>
                  <a:pt x="0" y="2094"/>
                </a:lnTo>
                <a:lnTo>
                  <a:pt x="8825" y="0"/>
                </a:lnTo>
                <a:close/>
              </a:path>
            </a:pathLst>
          </a:custGeom>
          <a:gradFill>
            <a:gsLst>
              <a:gs pos="50000">
                <a:schemeClr val="tx1"/>
              </a:gs>
              <a:gs pos="0">
                <a:schemeClr val="tx1">
                  <a:lumMod val="25000"/>
                  <a:lumOff val="75000"/>
                </a:schemeClr>
              </a:gs>
              <a:gs pos="100000">
                <a:schemeClr val="tx1">
                  <a:lumMod val="8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747395" y="857885"/>
            <a:ext cx="4254500" cy="607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ts val="2600"/>
              </a:lnSpc>
            </a:pPr>
            <a:r>
              <a:rPr kumimoji="1" lang="en-US" altLang="zh-CN" sz="3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  <a:cs typeface="Gotham Bold" charset="0"/>
              </a:rPr>
              <a:t>weighted_jaccard()</a:t>
            </a:r>
            <a:endParaRPr kumimoji="1" lang="en-US" altLang="zh-CN" sz="3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  <a:cs typeface="Gotham Bold" charset="0"/>
            </a:endParaRPr>
          </a:p>
        </p:txBody>
      </p:sp>
      <p:sp>
        <p:nvSpPr>
          <p:cNvPr id="29" name="等腰三角形 28"/>
          <p:cNvSpPr/>
          <p:nvPr/>
        </p:nvSpPr>
        <p:spPr>
          <a:xfrm>
            <a:off x="4895850" y="5732780"/>
            <a:ext cx="7435215" cy="1201420"/>
          </a:xfrm>
          <a:prstGeom prst="triangle">
            <a:avLst>
              <a:gd name="adj" fmla="val 52230"/>
            </a:avLst>
          </a:prstGeom>
          <a:solidFill>
            <a:schemeClr val="tx1">
              <a:alpha val="84000"/>
            </a:schemeClr>
          </a:solidFill>
          <a:ln>
            <a:noFill/>
          </a:ln>
          <a:effectLst>
            <a:outerShdw blurRad="228600" dist="38100" algn="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/>
        </p:nvSpPr>
        <p:spPr>
          <a:xfrm>
            <a:off x="-9525" y="6464935"/>
            <a:ext cx="11001375" cy="421640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17325" h="1200">
                <a:moveTo>
                  <a:pt x="8253" y="0"/>
                </a:moveTo>
                <a:lnTo>
                  <a:pt x="17325" y="1200"/>
                </a:lnTo>
                <a:lnTo>
                  <a:pt x="0" y="1200"/>
                </a:lnTo>
                <a:lnTo>
                  <a:pt x="0" y="1092"/>
                </a:lnTo>
                <a:lnTo>
                  <a:pt x="8253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>
            <a:outerShdw blurRad="50800" dist="38100" algn="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746760" y="1560830"/>
            <a:ext cx="10805160" cy="4630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计算两个序列基于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k-mer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的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Weighted Jaccard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相似度</a:t>
            </a:r>
            <a:endParaRPr lang="zh-CN" altLang="en-US" sz="2400" b="1" dirty="0">
              <a:solidFill>
                <a:srgbClr val="00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457200" algn="just">
              <a:lnSpc>
                <a:spcPct val="150000"/>
              </a:lnSpc>
            </a:pPr>
            <a:endParaRPr lang="zh-CN" altLang="en-US" dirty="0">
              <a:solidFill>
                <a:srgbClr val="00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1.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分别统计两条序列的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k-mer 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频次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，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分别存在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map1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和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map2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中</a:t>
            </a:r>
            <a:endParaRPr lang="en-US" altLang="zh-CN" dirty="0">
              <a:solidFill>
                <a:srgbClr val="00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2.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遍历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map1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累加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min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和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max（min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就是交集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，max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就是并集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）</a:t>
            </a:r>
            <a:endParaRPr lang="en-US" altLang="zh-CN" dirty="0">
              <a:solidFill>
                <a:srgbClr val="00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3.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遍历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map2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补齐只在出现在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map2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中的项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（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补全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max，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即并集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）</a:t>
            </a:r>
            <a:endParaRPr lang="en-US" altLang="zh-CN" dirty="0">
              <a:solidFill>
                <a:srgbClr val="00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4.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返回</a:t>
            </a:r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min/max</a:t>
            </a:r>
            <a:endParaRPr lang="en-US" altLang="zh-CN" dirty="0">
              <a:solidFill>
                <a:srgbClr val="00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457200" algn="just">
              <a:lnSpc>
                <a:spcPct val="150000"/>
              </a:lnSpc>
            </a:pPr>
            <a:endParaRPr lang="en-US" altLang="zh-CN" dirty="0">
              <a:solidFill>
                <a:srgbClr val="000000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pic>
        <p:nvPicPr>
          <p:cNvPr id="2" name="334E55B0-647D-440b-865C-3EC943EB4CBC-1" descr="wpsoffi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0880" y="2171700"/>
            <a:ext cx="3049905" cy="894715"/>
          </a:xfrm>
          <a:prstGeom prst="rect">
            <a:avLst/>
          </a:prstGeom>
        </p:spPr>
      </p:pic>
      <p:pic>
        <p:nvPicPr>
          <p:cNvPr id="3" name="334E55B0-647D-440b-865C-3EC943EB4CBC-2" descr="wpsoffi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1970" y="3488055"/>
            <a:ext cx="3556635" cy="9137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 30"/>
          <p:cNvSpPr/>
          <p:nvPr/>
        </p:nvSpPr>
        <p:spPr>
          <a:xfrm>
            <a:off x="6534150" y="5352415"/>
            <a:ext cx="5796915" cy="1610360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8825" h="2094">
                <a:moveTo>
                  <a:pt x="8825" y="0"/>
                </a:moveTo>
                <a:lnTo>
                  <a:pt x="8825" y="2094"/>
                </a:lnTo>
                <a:lnTo>
                  <a:pt x="0" y="2094"/>
                </a:lnTo>
                <a:lnTo>
                  <a:pt x="8825" y="0"/>
                </a:lnTo>
                <a:close/>
              </a:path>
            </a:pathLst>
          </a:custGeom>
          <a:gradFill>
            <a:gsLst>
              <a:gs pos="50000">
                <a:schemeClr val="tx1"/>
              </a:gs>
              <a:gs pos="0">
                <a:schemeClr val="tx1">
                  <a:lumMod val="25000"/>
                  <a:lumOff val="75000"/>
                </a:schemeClr>
              </a:gs>
              <a:gs pos="100000">
                <a:schemeClr val="tx1">
                  <a:lumMod val="8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747395" y="1160780"/>
            <a:ext cx="3649345" cy="607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ts val="2600"/>
              </a:lnSpc>
            </a:pPr>
            <a:r>
              <a:rPr kumimoji="1" lang="zh-CN" altLang="en-US" sz="32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  <a:cs typeface="Gotham Bold" charset="0"/>
                <a:sym typeface="+mn-ea"/>
              </a:rPr>
              <a:t>程序使用方法</a:t>
            </a:r>
            <a:endParaRPr kumimoji="1" lang="zh-CN" altLang="en-US" sz="3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  <a:cs typeface="Gotham Bold" charset="0"/>
            </a:endParaRPr>
          </a:p>
        </p:txBody>
      </p:sp>
      <p:sp>
        <p:nvSpPr>
          <p:cNvPr id="29" name="等腰三角形 28"/>
          <p:cNvSpPr/>
          <p:nvPr/>
        </p:nvSpPr>
        <p:spPr>
          <a:xfrm>
            <a:off x="4895850" y="5732780"/>
            <a:ext cx="7435215" cy="1201420"/>
          </a:xfrm>
          <a:prstGeom prst="triangle">
            <a:avLst>
              <a:gd name="adj" fmla="val 52230"/>
            </a:avLst>
          </a:prstGeom>
          <a:solidFill>
            <a:schemeClr val="tx1">
              <a:alpha val="84000"/>
            </a:schemeClr>
          </a:solidFill>
          <a:ln>
            <a:noFill/>
          </a:ln>
          <a:effectLst>
            <a:outerShdw blurRad="228600" dist="38100" algn="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/>
        </p:nvSpPr>
        <p:spPr>
          <a:xfrm>
            <a:off x="-9525" y="6464935"/>
            <a:ext cx="11001375" cy="421640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17325" h="1200">
                <a:moveTo>
                  <a:pt x="8253" y="0"/>
                </a:moveTo>
                <a:lnTo>
                  <a:pt x="17325" y="1200"/>
                </a:lnTo>
                <a:lnTo>
                  <a:pt x="0" y="1200"/>
                </a:lnTo>
                <a:lnTo>
                  <a:pt x="0" y="1092"/>
                </a:lnTo>
                <a:lnTo>
                  <a:pt x="8253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>
            <a:outerShdw blurRad="50800" dist="38100" algn="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27330" y="1842135"/>
            <a:ext cx="8572500" cy="44291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just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1.</a:t>
            </a:r>
            <a:r>
              <a:rPr lang="zh-CN" altLang="en-US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参考编译命令：</a:t>
            </a:r>
            <a:r>
              <a:rPr lang="en-US" altLang="zh-CN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g++ -O3 wj.cpp -lz -o jaccard_cluster</a:t>
            </a:r>
            <a:endParaRPr lang="en-US" altLang="zh-CN" dirty="0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2.</a:t>
            </a:r>
            <a:r>
              <a:rPr lang="zh-CN" altLang="en-US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样例代码执行方式</a:t>
            </a:r>
            <a:r>
              <a:rPr lang="en-US" altLang="zh-CN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./jaccard_cluster &lt;fasta_file&gt; &lt;threshold&gt;</a:t>
            </a:r>
            <a:endParaRPr lang="en-US" altLang="zh-CN" dirty="0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3.</a:t>
            </a:r>
            <a:r>
              <a:rPr lang="zh-CN" altLang="en-US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提交代码的执行方式（以多线程并行为例）</a:t>
            </a:r>
            <a:r>
              <a:rPr lang="en-US" altLang="zh-CN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: </a:t>
            </a:r>
            <a:endParaRPr lang="en-US" altLang="zh-CN" dirty="0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./jaccard_cluster &lt;number of threads&gt; &lt;fasta_file&gt; &lt;threshold&gt;</a:t>
            </a:r>
            <a:endParaRPr lang="en-US" altLang="zh-CN" dirty="0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4.</a:t>
            </a:r>
            <a:r>
              <a:rPr lang="zh-CN" altLang="en-US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可自行更改编译方式和编译参数，但需要留存脚本文件或</a:t>
            </a:r>
            <a:r>
              <a:rPr lang="en-US" altLang="zh-CN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Makefile </a:t>
            </a:r>
            <a:r>
              <a:rPr lang="zh-CN" altLang="en-US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文件</a:t>
            </a:r>
            <a:endParaRPr lang="zh-CN" altLang="en-US" dirty="0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457200" algn="just">
              <a:lnSpc>
                <a:spcPct val="15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结果验证</a:t>
            </a:r>
            <a:endParaRPr lang="zh-CN" altLang="en-US" sz="24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457200" algn="just">
              <a:lnSpc>
                <a:spcPct val="150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将输出重定向到 result.txt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，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用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md5sum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进行比对与源程序输出结果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比对</a:t>
            </a:r>
            <a:endParaRPr lang="zh-CN" altLang="en-US" sz="1800" dirty="0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457200" algn="just">
              <a:lnSpc>
                <a:spcPct val="150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统一使用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time 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统计整个程序运行时间（端到端）</a:t>
            </a:r>
            <a:endParaRPr lang="zh-CN" altLang="en-US" sz="1800" dirty="0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457200" algn="just">
              <a:lnSpc>
                <a:spcPct val="150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示例：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time </a:t>
            </a:r>
            <a:r>
              <a:rPr lang="en-US" altLang="zh-CN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./jaccard_cluster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test.fasta 0.85 &gt; result.txt</a:t>
            </a:r>
            <a:endParaRPr lang="en-US" altLang="zh-CN" sz="1800" dirty="0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457200" algn="just">
              <a:lnSpc>
                <a:spcPct val="150000"/>
              </a:lnSpc>
            </a:pPr>
            <a:endParaRPr lang="en-US" altLang="zh-CN" sz="1800" dirty="0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43395" y="1550670"/>
            <a:ext cx="5211445" cy="1983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数据集说明</a:t>
            </a:r>
            <a:endParaRPr lang="zh-CN" altLang="en-US" sz="24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test.fasta：</a:t>
            </a:r>
            <a:r>
              <a:rPr lang="zh-CN" altLang="en-US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稀疏数据集（相似边更少、簇更分散</a:t>
            </a:r>
            <a:r>
              <a:rPr lang="en-US" altLang="zh-CN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)</a:t>
            </a:r>
            <a:endParaRPr lang="zh-CN" altLang="en-US" dirty="0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test2.fasta：</a:t>
            </a:r>
            <a:r>
              <a:rPr lang="zh-CN" altLang="en-US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高相似蛋白质序列数据集（簇更密集）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 30"/>
          <p:cNvSpPr/>
          <p:nvPr/>
        </p:nvSpPr>
        <p:spPr>
          <a:xfrm>
            <a:off x="6534150" y="5352415"/>
            <a:ext cx="5796915" cy="1610360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8825" h="2094">
                <a:moveTo>
                  <a:pt x="8825" y="0"/>
                </a:moveTo>
                <a:lnTo>
                  <a:pt x="8825" y="2094"/>
                </a:lnTo>
                <a:lnTo>
                  <a:pt x="0" y="2094"/>
                </a:lnTo>
                <a:lnTo>
                  <a:pt x="8825" y="0"/>
                </a:lnTo>
                <a:close/>
              </a:path>
            </a:pathLst>
          </a:custGeom>
          <a:gradFill>
            <a:gsLst>
              <a:gs pos="50000">
                <a:schemeClr val="tx1"/>
              </a:gs>
              <a:gs pos="0">
                <a:schemeClr val="tx1">
                  <a:lumMod val="25000"/>
                  <a:lumOff val="75000"/>
                </a:schemeClr>
              </a:gs>
              <a:gs pos="100000">
                <a:schemeClr val="tx1">
                  <a:lumMod val="8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747395" y="1160780"/>
            <a:ext cx="3649345" cy="607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  <a:sym typeface="+mn-ea"/>
              </a:rPr>
              <a:t>优化策略提示</a:t>
            </a:r>
            <a:endParaRPr lang="zh-CN" altLang="en-US" sz="32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9" name="等腰三角形 28"/>
          <p:cNvSpPr/>
          <p:nvPr/>
        </p:nvSpPr>
        <p:spPr>
          <a:xfrm>
            <a:off x="4895850" y="5732780"/>
            <a:ext cx="7435215" cy="1201420"/>
          </a:xfrm>
          <a:prstGeom prst="triangle">
            <a:avLst>
              <a:gd name="adj" fmla="val 52230"/>
            </a:avLst>
          </a:prstGeom>
          <a:solidFill>
            <a:schemeClr val="tx1">
              <a:alpha val="84000"/>
            </a:schemeClr>
          </a:solidFill>
          <a:ln>
            <a:noFill/>
          </a:ln>
          <a:effectLst>
            <a:outerShdw blurRad="228600" dist="38100" algn="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/>
        </p:nvSpPr>
        <p:spPr>
          <a:xfrm>
            <a:off x="-9525" y="6464935"/>
            <a:ext cx="11001375" cy="421640"/>
          </a:xfrm>
          <a:custGeom>
            <a:avLst/>
            <a:gdLst>
              <a:gd name="adj" fmla="val 50000"/>
              <a:gd name="a" fmla="pin 0 adj 100000"/>
              <a:gd name="x1" fmla="*/ w a 200000"/>
              <a:gd name="x2" fmla="*/ w a 100000"/>
              <a:gd name="x3" fmla="+- x1 wd2 0"/>
            </a:gdLst>
            <a:ahLst/>
            <a:cxnLst>
              <a:cxn ang="3">
                <a:pos x="x2" y="t"/>
              </a:cxn>
              <a:cxn ang="cd2">
                <a:pos x="x1" y="vc"/>
              </a:cxn>
              <a:cxn ang="cd4">
                <a:pos x="l" y="b"/>
              </a:cxn>
              <a:cxn ang="cd4">
                <a:pos x="x2" y="b"/>
              </a:cxn>
              <a:cxn ang="cd4">
                <a:pos x="r" y="b"/>
              </a:cxn>
              <a:cxn ang="0">
                <a:pos x="x3" y="vc"/>
              </a:cxn>
            </a:cxnLst>
            <a:rect l="l" t="t" r="r" b="b"/>
            <a:pathLst>
              <a:path w="17325" h="1200">
                <a:moveTo>
                  <a:pt x="8253" y="0"/>
                </a:moveTo>
                <a:lnTo>
                  <a:pt x="17325" y="1200"/>
                </a:lnTo>
                <a:lnTo>
                  <a:pt x="0" y="1200"/>
                </a:lnTo>
                <a:lnTo>
                  <a:pt x="0" y="1092"/>
                </a:lnTo>
                <a:lnTo>
                  <a:pt x="8253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>
            <a:outerShdw blurRad="50800" dist="38100" algn="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10920" y="1673225"/>
            <a:ext cx="8801100" cy="31311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just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1.</a:t>
            </a:r>
            <a:r>
              <a:rPr lang="zh-CN" altLang="en-US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可以选用多线程或者多进程的并行方式优化计算热点。</a:t>
            </a:r>
            <a:endParaRPr lang="zh-CN" altLang="en-US" dirty="0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2.</a:t>
            </a:r>
            <a:r>
              <a:rPr lang="zh-CN" altLang="en-US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建议尝试使用向量化、访存优化、</a:t>
            </a:r>
            <a:r>
              <a:rPr lang="en-US" altLang="zh-CN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Cache</a:t>
            </a:r>
            <a:r>
              <a:rPr lang="zh-CN" altLang="en-US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友好性优化等细粒度优化技术。</a:t>
            </a:r>
            <a:endParaRPr lang="zh-CN" altLang="en-US" dirty="0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3.</a:t>
            </a:r>
            <a:r>
              <a:rPr lang="zh-CN" altLang="en-US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可以对数据读入、计算、结果输出等多个环节进行优化。</a:t>
            </a:r>
            <a:endParaRPr lang="zh-CN" altLang="en-US" dirty="0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4.</a:t>
            </a:r>
            <a:r>
              <a:rPr lang="zh-CN" altLang="en-US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可以采用不同计算方法或者简化算法，但计算结果要保持一致。</a:t>
            </a:r>
            <a:endParaRPr lang="zh-CN" altLang="en-US" dirty="0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457200" algn="just">
              <a:lnSpc>
                <a:spcPct val="150000"/>
              </a:lnSpc>
            </a:pPr>
            <a:endParaRPr lang="zh-CN" altLang="en-US" dirty="0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457200" algn="just"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调试工具</a:t>
            </a:r>
            <a:r>
              <a:rPr lang="en-US" altLang="zh-CN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：gdb、vtune、</a:t>
            </a:r>
            <a:r>
              <a:rPr lang="en-US" altLang="zh-CN" dirty="0">
                <a:solidFill>
                  <a:srgbClr val="0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perf</a:t>
            </a:r>
            <a:endParaRPr lang="en-US" altLang="zh-CN" dirty="0">
              <a:solidFill>
                <a:srgbClr val="00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pic>
        <p:nvPicPr>
          <p:cNvPr id="4" name="图片 3" descr="8EF02F0A-1277-464E-BBC6-A62C14A79E77-39929-00004B55F9F6995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272280"/>
            <a:ext cx="12192000" cy="15894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784459" y="2553765"/>
            <a:ext cx="8752237" cy="1292093"/>
          </a:xfrm>
        </p:spPr>
        <p:txBody>
          <a:bodyPr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zh-CN" altLang="en-US"/>
              <a:t>谢谢大家！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COMMONDATA" val="eyJoZGlkIjoiOWExYjYzZWJjYTgwN2I1MzFiYzljYjVhMTY4MDAzMzEifQ=="/>
  <p:tag name="RESOURCE_RECORD_KEY" val="{&quot;8&quot;:[20294351,20474624,20469994,4542797]}"/>
  <p:tag name="commondata" val="eyJoZGlkIjoiNzdmN2ZkOTNiOGQ1NGFiMGJiYmNkYTI5MWE2M2M3MWYifQ=="/>
</p:tagLst>
</file>

<file path=ppt/theme/theme1.xml><?xml version="1.0" encoding="utf-8"?>
<a:theme xmlns:a="http://schemas.openxmlformats.org/drawingml/2006/main" name="Office 主题​​">
  <a:themeElements>
    <a:clrScheme name="山东大学配色">
      <a:dk1>
        <a:srgbClr val="9B0D14"/>
      </a:dk1>
      <a:lt1>
        <a:srgbClr val="FFFFFF"/>
      </a:lt1>
      <a:dk2>
        <a:srgbClr val="9B0D14"/>
      </a:dk2>
      <a:lt2>
        <a:srgbClr val="FFFFFF"/>
      </a:lt2>
      <a:accent1>
        <a:srgbClr val="3B3B3B"/>
      </a:accent1>
      <a:accent2>
        <a:srgbClr val="5C5C5C"/>
      </a:accent2>
      <a:accent3>
        <a:srgbClr val="929292"/>
      </a:accent3>
      <a:accent4>
        <a:srgbClr val="E9E9E9"/>
      </a:accent4>
      <a:accent5>
        <a:srgbClr val="E9E9E9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山东大学配色">
      <a:dk1>
        <a:srgbClr val="9B0D14"/>
      </a:dk1>
      <a:lt1>
        <a:srgbClr val="FFFFFF"/>
      </a:lt1>
      <a:dk2>
        <a:srgbClr val="9B0D14"/>
      </a:dk2>
      <a:lt2>
        <a:srgbClr val="FFFFFF"/>
      </a:lt2>
      <a:accent1>
        <a:srgbClr val="3B3B3B"/>
      </a:accent1>
      <a:accent2>
        <a:srgbClr val="5C5C5C"/>
      </a:accent2>
      <a:accent3>
        <a:srgbClr val="929292"/>
      </a:accent3>
      <a:accent4>
        <a:srgbClr val="E9E9E9"/>
      </a:accent4>
      <a:accent5>
        <a:srgbClr val="E9E9E9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334E55B0-647D-440b-865C-3EC943EB4CBC-1">
      <extobjdata type="334E55B0-647D-440b-865C-3EC943EB4CBC" data="ewoJIkltZ1NldHRpbmdKc29uIiA6ICJ7XCJkcGlcIjpcIjYwMFwiLFwiZm9ybWF0XCI6XCJQTkdcIixcInRyYW5zcGFyZW50XCI6dHJ1ZSxcImF1dG9cIjp0cnVlfSIsCgkiTGF0ZXgiIDogIlhGc0tTaWhCTENCQ0tTQTlJRnhtY21GamUzeEJJRnhqWVhBZ1FueDllM3hCSUZ4amRYQWdRbng5Q2x4ZCIsCgkiTGF0ZXhJbWdCYXNlNjQiIDogImlWQk9SdzBLR2dvQUFBQU5TVWhFVWdBQUFwMEFBQURFQkFNQUFBQXY1WWNiQUFBQU1GQk1WRVgvLy84QUFBQUFBQUFBQUFBQUFBQUFBQUFBQUFBQUFBQUFBQUFBQUFBQUFBQUFBQUFBQUFBQUFBQUFBQUFBQUFBdjNhQjdBQUFBRDNSU1RsTUFadS9kelVTSm1hdTdJbFFRZGpKNFRHb0ZBQUFBQ1hCSVdYTUFBQTdFQUFBT3hBR1ZLdzRiQUFBYTEwbEVRVlI0QWUxZGI0d2t4MVh2dTcyOTNadWQzVm5sZzVFUTBxek9BVWY4bTAzT0VDdENtZ1U3MkFIRXJvaENKSCtaRlI5OHNvZ3lKOHZ4SHl3MEd4U3dyWURtQkVpSm9vZ1pHUm1VRDlFdWljU0g4R0VtZGhRUkVNd0JSa29pU3p1S0F2bUN0T3ZkSS9FNVp6ZnZkWGQxdlZmMXFyZHJadFo5ZlV0L21INzE2dFY3L1h0ZFhmVzZxcm9tQ082bTQrSjlSYUVwenZKcElxNkZwNms5UzNkeGxyT3VhdHE4VVRoMHEvakJ0anR2NnB4TXkxTnJMMHJCYnRoM21xNkUvK3ZNbXo0ankvTDAyb3ZTa0lYcVV2akdLVjVXbHVWVE5Idktxck5RRGNJZlRtVjlvUkd5NDk2SHYwYjBaVmttWWlVanMxQTF3amVuUWxOajNvd1M3OWNLc3l4cnFiSlJHYWd1aHVHdHFlQXNYWDF4RTczNHZxZWo0MWxNL0Z5cU1jTnlLbE0rSWdQVmJoZ2VUdzJvSFlZM2xaTHFlOENoMTFVcXc3SVNLZUU1QTFVdkRJK21SbFFQYVpEUUpkN05zRHkxMWVJVXVGSE5RMldhUHRqdmhPR2hScmNJS25lU3BOdXlsaThmNVVZMWgvNGNUb3VvU1o3d0lLZzJ3dkRIaVVxMzVXbHRGbG5laldvZi9Ubk91TFovK3E5SGh4blpVVllWZE53Z1F0Q2NxamJaYlpuSWw0NTBvcXFHVDRJdnRseUFWbjZpQ2RuaEEvL3BFb2o1U3lBekppSUhPdTIwVE1UTFJ6cFJMWWJmQXV5ckRrUi8wNFRNNkxodjdCQ0oyQXNnUS9OSGtFN3FxOU15bFM4ZDdVVFZlZ045c1MwRCtuN2t5dmpuZUUrV2lialFDTE1ZdGdabHJzWHlUc3NaNnU3OExDZXE1anJFOHdxN2dlTkxrSFByOS84bnFMNzg3U1pFUUZ0R05rbENmWHliSklQelVISW5aamd0VS9uUzBTNVV5K0g0SEdDL0xnRmFob3hQSlJtVi93akRIMGxDTVc4UWh1L1FYS3lmMnpIRFpabUtsNDkyb1JxOUdXQUF1aUVoNm9USHE1ci8wVEQ4TFoweXFBNExQNE5nRjNRbVpWMldEUTBsUzdwUWRXOEhLNEI5VFlCekllMVM0c3l2aEVkOVFTeGlOWTBxWGdlZGliRExza3RWT2ZnT1ZDdlFDMlBzZUNpZzZJWWZZdHhxTDF4bkRKMHd3ODlnVTc5d09penJ3cVdrSEtndVlOUU4vcnh0Z3pySGUyd1FXSENPNjVuaFp3VlVuc24zb3pyT2REVEM4QzNibndkMmJleXFOdEdVTnNQUFMrRFBqVVRJY1NkTkZTVkx5NmlxalIzQTBXUmpRd3JZcG1vQUZTTUk1c1IyRnZMTjhITUEvdXduNVdUTFdtazVLUm5WUWpRUTBndUZDYVFWSGxCR3FGY0V1U2hqeE1QUEN0UjQ5YmhEVjk4dnA4c3lyMXBHZFJBRjRWM3VqVmpQZ3RSSDlkSXhZMjZzeGNQUFY2RjY3aWtKMmJMS0xldFpSclVaZGRodEtWUS9MNzB6RFJ3RGU2Q0JSQWpWVGRxQXlKYkw2a2QxM1NLcWMvRzQwbjRvZE55N3VvWXBIVUV3a3BpUURRNjhycVcrQjhIU01FMktsdFBjc2hJaXFsZmllYzJCRGhZMXZKWlVGZWZVb0pHV1E0cUhuOStFK1pNYldrQzByTE5MU29tb09uR1lkS0FIZnpXNk9odC9TL2lYcEVZZ2lONVl4NnJvdnpUQzhCTXFBV2ZSTXNrdkp5bWhxaVMxYlJlNkR3dlZ2alJIdDZnR2piZzRqbEFsbk1wM29MS3YwbXpKTXMwdkp5MmhpbDZPQUU1TnUwT0Q4L0Vudk9tSEQrSHhZQk9lOVUvM3RSYWdKTXRNb0pRSkNkVWdXUWFHL3V5YnFQYlYvQS9OY05SUFZLQ1BCMTZuUmM2UVB4dEpuNHd6bkZ2TUI1RHc4V2VMdkxDKy9FUVlmcGdxays0a3pTOG5MYUM2cUNvbFBxNTdKaXdmZjdiWmdCK2t2a0MwQ1paSmJsbEpBZFd1V2xXSHF3OXVtTUI4L0xtWlRtNmdGaGlmUGlMVlhiQnMyaXBoV2tEVlcwdHdpQk55UHY2RSs3RktmRktucjBkbnB2MWNTcDl4bkNmYUlmNklTQTkvNG9SSm41VEg5a09uaFR0SlpNdEsycWpPcHhPOE9CcDgzUVRtNFU4SVAxbXd5dlhabGsxVFpVemJxTnB2S1J4WXY5WlZRcDA5L0FuMU1iMDNVWEhRbDRSaWtMUXRLeE5sUGx1b0t1SFJaWFVBL2pVVG5JYy9JZnhrays4NFBLSlhQRnVXVFV1bFRGdW9jRXFDSEljbUtnOS90dmpvWnhCMGFRTmdXVFl0bFRKdG9XcmRlaUU5d0svcHc2L1FlZml6elVZL1FRRXc5T2lVWlZsWktQWFpRdFVrUFZERHJHQUExY09mbTJaMzFnRi85cFc3TE1zcW85Um5FOVd5Qmh3TkI2ZlRQUXFsaHovQmV6ZFVzZWpjUFh2MWM2UmVqdEFCUFdGQ0xyOC9NVHdZUjM1VVAxQmgxZmpkV2VuZnUyc0tQSnc3b2YxRlYzNS9rdEhQUkNlNFU0OU9tVThHc1Z0aTBrQTFuNzRjSWFhMk1DR1gzNThRZnZKcFQ0em5kZlUzTEpmWWgvVFNEVlJ6ekFOMU15Q0hrdm45V2FQZVE1czR2cUxqQmNNeXZhZ1Mwd2FxL1hjb2xvRlp3eUF6dno5YjlHMEkxWTdBbnpwNk1DeFR1eVdtT2FvcW4xYzdvUEYzQWpLL1A2RzE0RzhEWGZEbk9QVVZ0NXl5UzA1d1ZJdEhRNHBuRnh4QTAwam45K2VtWHZzVktjSDFwTHI1UEJQdjd5Myt3WHNOUERDTWZLRi84dnNUQ20vcmNrR0FxMjNXTllQZlNjMHZOOFZRVlJzRUwrQkNmNDROZkxuOWlkVnhpeGJ1UWV0QnRESExWSzdVTkVPMXlLS2xhTGtoZHdsQXplMVBISTBlRXQ5ZzcwNTdPMmFaeUpXYlpLanFSbXVKQStxckJyN2Mvb1RDT25pSHRUZlFuTExLeml3YlJ1emtWMWxWdC9NbjVyeGtBcHhZVTFTUW9sbzI0dThvWU53MjlPZjI1NGkvRE1CbklIemRQYlZzMkxDVEMrNVBIbXhoTDg0Y0gvTDJLaXNJVTFRZHN6ZkhDZmdkbzFCdWY5YkoydGtnd0UvQStIZEsxTEpodzA1MmFVdkJzbGVlWWtudlJMWHAvdHJIV3hrZGxhaitPMEQrSWxXeGdvK29mcUdKcy9MNmM3NUJtc3ZLYTZEcG1EK3lQdjY4WkRYajZYWHV1ck5TbVV6aXBlTmhacjVmcGtJMS8zZ1RJSWZodzN0Sitlbzl6NEpINEhqazZVOVNsYm44ZWM4ekwyTFI0K2NmdytQcVoxRFRUYVU1MGFZc1UrVXVlcFBIY1ZTc1o3WHdORGNIdlJMK1NnNnB2Q0lLVlEzeDQ3R1dsTVRSb2VSZ0xVd2VmK0tYaXVieFFWNDc2Wk9oci9WY0k3eDg3eFZZUUhibGN2alRtcjNJQTFtZEVRUXd4ckpOMHpJTmEzM29jWFQvYzMwdE9HQmpGcG8vRWFYOGVTRzhmT1doQnovUVNGODR6OEc4M0pYN2dYV1pmMnhRcDUyMk1ybVFGb3M0UzNITjFoRGUrN252S3RIMHJDeW5EQ0F3b0ZBSHFaSnRka2RwQWZ6QWRvY3h4SVRTcWMva2k4bUxlVFNJYWdXbWhFb1EwNnlXaE8xaW5rcWlkVVNVWkhuK3NXZGUvUE1JOUNOUHJhYnk4OUpuWlVsdW13NnhwQ1ZNNHUrZitVdlVldlI4dkhNUkpvNTA4OVBrczdCbVlhKzBoQ3BUd1FXOWc1S1dxMXpwNjBST3ltbjVyd0h0ejFJbHI3aWJTUHpnYnAzS09tbHN2elpVN3RmaEFkTDFZcGZGeFVwbXNyTVQxV1RxUEVvNUxlT0xsSzQ4b0hIVDNjRGg3UFphTHFQWXBtK2xrbWhqUTZXV2M5NFNKWjkxZHFMS0tqU1RQS2RsakhxcGhYTld6S1p6V3lCN3FKTVpsUEhwWTVjdXJXaVFZYThNRlhteW5LanlGSjVLeG1tNVpveGlqM2hueDR3MndaKzNHY2VWZ0x1a24vQWdlQVVLcGc5QmZYWVB2Qk9WNjdwbXhuZGFickZoVWx4Vk1uUVp4VEVYTnNqaUVvd21CMmkzZzgzcHVwS2UwOCsrWWsxNmRxS2FWR0h1Y2s3TDBHWHJWV01CYkd2QTMxT3BnZEdQTnJrd3plVDBnRHNlUnhQVGQ5aWwwRnBtd0F2blR6bFI1VmN4b2FUVE1yaUlOb21YTWg3bzd1MmVzRVJBdktBTzE0cWZtdW42Mm1UcktzWHlPWmxPVkRuTFR5N210QXhJTjRqYUEzZnpPUit1Z3B2eWRTWk5JMUFGSzdyZTd4c0xXWWg1VDlLSnlsT1B2N2pMTWk0cjJTYnFldTdPWXU1WVhDSkFDcWNrLy9RUjJBM2F3WTl5QmwycE9pZmhRdVVzTUxNTWwyWHNLYmEwbFdvb3ZlREcrZnZ2QkhYZWJldHlCb1ZyS2NhVUIybGRzUmRuMW9DNlVGSFRwME83TE9NN1BMRzRUR0FUTnBKVmVQRnVHY0dWSVpJbWpmQXp3QmNyUFVJd2I0NmtwK1Y4Q1JjcVh6Mys4aTdMTmU2aE9YYzB2d2lCMUlHd1JFQzZGaVA4RFBCMWlRenRobUZmS3VYUGM2SHkxK1Jid21VWmFweCtFQU53MklaTE0rNGlNUUsvdVBJcEgrUjBkdzRaK0JSc2FJRWVhN0kxMzV0eW9mSlc1RjNBWmJuTkk4cU9HeW51SWxFRHZ3eHoyQjZRY0JQRmQ2SGNuaTVYMThHOVprNUN1VkJOb3N1dmpNdnlKZzhVV2VmRUxFUzdTT0FHZzMzR2xoTWRyalhvOFZabFZ3ZjNjdm04WEJlcXZPVW5sM05aQmdkdGFLMFFQZWtFcDZKZEpIRHdoRVFEWElLa21qejh4TzZlTkord3NSRnJEVWhCVDlLRnlsUE5CT0lPeTBiNGVkSGQ4M1p3SUFRSDdGWlB0bTZHbnk5Qk1mSzR3OHc0SFN3NVdaOVRvcmgvZVhGWU5zTFBDNnh6b2pCd2k3MTRUU21lVHpqd0xvMjFUTFhKSnJNRDdPNTE3alJVY2Y5QzVMQnNoSjgxWjZRZDd5S0I3cjkyc2dOUWpFaDlBNUpiSkkxN1NZNXBlbUo2NmJNVEY1MnlvTU15ZE5oME9MN2w3Q2pxMFNDVStNMnVmV1Z3bDhnRHZkS3c5aXpOMVdyWWV1OThUb3VIbjIwMjFrUXVQOTVpRCtlTGFmZEZCQmc1b3VGbnRSMkd2OEN5Y2ErK0hZTnpseVFCS3gzOTdMa0N3NFU0VE1KeHpQV1RvY05kU2tjN2NTSE1ENGRHbWU3TVJrUU14VVVuTjNtZzJDQXI3dG1sN2NZQkRyNkhIN0lNTVFGM1NVbDl1UmVHdjJvSmRkSjhLNnZjRFBEUEJrSGc3RzNpTGZhaVRWK1ZwMGd4azRTN2REUGF1ZWdLNkgvZlQ1clpzS3lWaGFOSi9yOSt6SFU4YW11NE16bEcrQW5WNzRaNG9VdXFmd2IvME1CY0ZJNjhEb0xKY2Z4blEwdHN3RnFaT0J2L2JjUjF5RmRscVMyY1lZU2Y0TjVWOFpyU1hTU2F2TDBWaGFPTjMvcEpWdVhqRFdITC9BTXllcWQwNEwxMUhkZVYwQjErTnNKUGlMTzN4Q3R1cTBvSlQvTEprMmx3bDhnTUVhUnU5UTJ0dTlKN3d4KzV2R211dlRTVTNVSEpHZzgvQWZwWXVycEtPdXJVcFpHUUpJbzh1RXR2a3J4V1NGZnZSUmsxSmtCa1MwNENWRHI2Q2NQcWZRblJwYlM2ZFhnQlNUZ2ExZE9EOGRIYnBWbnRhK3d0UXRaU1JtNmJONGV3em1nb3dSaWt6L2crcjNxU2NCREFYVkx0UXlRQWpRUkxvOGZwVzVtc3BZeGNRSHBJcnR2bFQ3WEZYaEFNMkpza0tVcEp1RXRyTkcwWHFtVk0rOUdTWmFOREhuN0NjTnhRZ0pCdXNSZFZQZmNFcUNvS2Q0bDF5RFV3dy91NTg3VERVc1g4enFpMCtJUFd4bmhIMjIwQ0F6b1Nra3JKM1ZCdGFYUzV3YnJ1VklJVEFQTUc1V0FVc1VNWnNNNDViWkVaM3lOeEovclRDRCt4WTVZUTlYZzlrRVFvRHdQSk1XWGc4czgxeXNCL0htRHBDUkozb2oreDRsQW9zai9udzgrbmV4cDFvVVNmRmhGb3ZFdU1qUXdjM2RmSFhWby80UjZ6ZmxadVArazNiVGdoTjlaK0VTbTRLMlQwRTBSd2RRUHY0TS9mbmYxUnk0Z201ZjU5bi9nQ2EvU2U2RVhOaEx2RXA5dndlVGZyNThtOW1sWllHcXJOdzAvOGduUm9YWHcxZlRtQ3JEd1RjbkNYMHRIUFNCdmVCTjRSM3FYeDU2YUJVM3cvV3FSZE1UNjYyNWJMT1FQdWt1azljeFM2WnJRSVhFRnBVK0NjRFhyeDBIRnMwWFJFdDlLWEkwaGkxM0xORXVFTXVFc2JqRE93YnNKSWVuOWZjUTEvZnV4UnB1NE9TMVNmVVA5RGdZSE5OcjA2bUI3YW8rbUlibTRRRmk3c3VrN1NFbWxxeFkwZWphQkFHbDhxNi9obksrMHVzTEt4K2dqVFE2dW1oK0N2TEFrcng0UWMzaVdtRlZjMzhBNGYzdkRwZ0Vtc0g4dTVqcE51SWJuQ2Q1dEVkRW5uQ2xFMWJSdWpmMVRaTnE5bnBOZHBReFpPeUsyWklqeU5kNGx4c0h2bkhSUU1BOUJad0VTNm5PT2YyS01rZUhmcG92WUlsTkE0ZG4rZU9pZkhoQnowNWl5b3hVV2p2Rmx4ekI5Uk8rV2hNU0pQNm1mYnFqZE5veWZCVjN6ZUFrRHAyOWxnYTBaUWk2dHR6R2l6WTBRQTJScnY2RnlBcThhUWdUSWFwcDcxTUw5aXVBTEs2R2YzNDU5bkRXV01HNm9qZTVneFpQMUZ3eVhPZVg1RHJnVEpFY0JiajY0VEY4LzArUlh2VzVXdlM2TWxFRzRTYjBGTFNVZjNFMVg3UmczdWdwa3hOd09mZTF3ek9LVk5RdjI4MlkrdUhqeHJ1dU9BVkw1STVwejVZRzZTRHd0YTRLazl5eEVnRWQrdk9PY2JJS1JyZE15RFB0RXVaeWtxQitQODBaOGtXSHJXNHc3ekVFWWNzMjgycUYxeUU0QTJzK04vWGJ1bVhUSGZoTmF6cjlNUkJWR0N5VElreXBPTS8rd1RyaGNlZDZOdHhOZnpOeGtTQ0FZT0dRT2Y5MVFFNlBBdG5oM1B2dW5LVittQkRIRnZMQTI3ZTVqRkprdGZ2Ryt5Y3RPWFNpMnZxTmhsWUswaXhOZEpCaFQvaE83V2tCci9QcmduclZzOW9OK211VWovRGpESGl2bGxlUGpEWDFLcDlMeW83MG5LbTRod3JHcWRTSmRmSVcyNUcvZSs4T1pvdkxTQVFuaEg2YWQ2Zi9jdndCblEyajZuT0YrL0d1ODJjdlA1cDhiSXEwTXVpL2JQWFgyaEI3endnYWVpbll1ZStUVk0vS1lxcnMvbnpXWkZaL2xSamxYWHNaSWZiUHNwODVMV2xpOUVFV1cxSTd4YjRzb2ovYXlpTS9CSXEydzdUdVB2ZFRRT2tkQlIrdkFqbzY0RkZIWDhLY3d3amdNcmpEQUU4aVlkWHdWRXhTczhiTXVyTXFlY3RsenQzZnlwb1BKN1lmaW5RdEV1bVRqYlBMcjNmdHlhS2EyQzlYaTdwaXN3SzdjYWxYM3QrSFgyS3ZRVjVjWGtmUFNSUCt3TFJtQjUzWWJFOXVkcFZIYlpTN042Q0d6VndDR1d6elhDZTZGaC9BTkpybVVGOUpJVTRURi9FbjRtMlROZXVqS0ZzeklKS2t0c1lFV0Rsa2dtWXdGOFJJOTdILzRha2FlVzU1OXNIUC82RnNuVTVIblBoNlJxdDhGYW1ZdUM4SFBveXZQalUxUm15Y2FVblY2Tk9qT20zNjl0WkZuV1V0REJzd2FSNU1qa1N0b1l5UGtpZDFrM0lXSitmbVlHS25oNW0rUmVhOXRMVjEvY1JEZStMOTZWNjFsTTZOMndNaXhyRlZFMFRwTW4wa3RXdkhSaUVkeUkxM3hoeWxGSUZNbEF0U3VFMTZLT0xHYWJqSlZWM3dNT2pmcGhMSkZobVNuc2tnNmVaY2lKQlRiMEljdFkzTjFaZFVkWnFIb2tNTEd1SUMralRrWXJvaitVU3J1THZQNzB4SHIrTU8rbEVia09INzhuT2I2a0cxVTAydStyenBMdnNQZERIQmpmU1dUY2xybVNCYjluOFdDREY4K1Rxazdac0JFYmJsVDQ1ZTcwdlY2VFBPSFFHRGIwNm15M1pYSjVRSHFDN2NTQktOZHhRdXFpM3kzTDB1Wkd0WS8rSEZ0bHo0bFI0bU9XWE16QXVhRWJKQSthVXpYazRiWk01SkZzQzFkaGlPaGt0YUhwM05Rb2ZXaHlGM0VKT2xGVnd5ZkJGMXRXdVFNcGZGbG1UaU5sY1BaeFROSUhPdTIwVE1RamNzNEg3WUk1Z0dwcWs5THQ2WjlEcGRhSmFqSDhGbUMzSDU1QjJxRW9GWEEyOXFmVk9UalhwbFB4ZGg5SmZYVmFwdkpJei90RTlMdHNzczVVSmFjck0zd1BkS0pxdllHKzJMYXVZRjg5cnpUSDhmL3YwVDhzc0JpMkJqcXZ4U1dkbHFuaWlPNms0eDlXbHNYWXRHdUFKV015THN3c1dzcUlBcHZyRU04cjdPUUsvUHc1TXNZamNTNXpKOWFXMzU5endtV1FLNkxrQXJ0N05DZURyaDhOTTNMOXNseW9ZQkdHdkpMRno1OERZNm9HNitkMmZJVXV5L2IxVi9KM3YvVUpIdmVxVDN0aVh4M251RkNOM3NTaFhPRkI4UE5uaDRXZjhUWTl5UlBwc3N5dkwwb05qb2NDVjJETnM4NVBFSkJZbDF5ZHFTUjhFcytGcW52YnNaTEZ6NTlORm43RzQ3djkrSnBjbG9VclhoYnVxeUFHdTlIL2hzak9ablltR1VGeHFYU2d3czFPTUhZOHRNcDUrZE1NUC9FZm9WVjg0TEJzR1VSR1d3clNSRWwvNXJJZVV2QXZiSlZ3b0lvMk93Ri8yaXRadlB4cGhwKzQyT2pIeVRVNExGdFhpSXhKOXJjWEZRbk13VXp2bFFOVkhVZHBHc0xrYS83L2s4SkxOOE5QWE9teWdSbHdPQ3pIbWVidnZqRUxiK1pQbmw3Skh6emtNU0tqaWpjN2FiS3hvVVNiVi8yRU1RQVd3QXpBbi8xRWtXelpjYzFMazNRMERsMmNQWHFicDZkTXlhamlKUVk5c3BJbE5lUGxUeVA4ckVDTlY0KzdYLzBNL3JhZlhzRnNpWCtjcldMWm53ZlJUZXNhd1hnRXhNdWZMUjUrdmdyVmMwKzVRN2FzY3N0NmxsSEZtNTIwamNVQi92NEVEU1JDd0wrUTA2UG5zdVd5K2xGZHQ0Z3EyZ2tTMSt3S2MyRmU5Uk1jZUYxWkNvTHZRYkEwVEpPaTVUUzNySVNJS3RvSk12cTBYQVdMR3A2UFAzbjQrVTJZUDdtaEZZbVdkWFpKS1JGVjU2MEl6WUVlL05Yb2ZQeUpiNnhqVlJTWGNuMUNKZUFzV2liNTVTUWxWSlhraFhZWDNHR2g4dkVuamxBbENpcmZnWWQ5bFdxVExOUDhjdElTcW5nbnlIaHZZZ3VWanoveE04bG9WNjRIbS9Dc2Y3clBsRW1XbVVBcEV4S3FRZElKMThBZDNBY0EwY2VmcUVBZkQ3ek9QQ1JaWmdLbFRFaW8xR1luT01PNVphTHk4V2VMdkxDKy9FUVlmcGdxa3l6VC9ITFNBcXAwc3hOOFhQZE1XRDcrYklkMGNSeWt2a0MwQ1paSmJsbEpBZFd1bWlMRTFRY2t3SWtoK3Zoek01M2N3TExRMngrUjZpNVlMcXNUeVhVTHFIcHJTYjQ0SWVmalQ3Z2ZxOFJXbmI0ZW5abDRhU2w5eHNXOWlUMzhpZUZubi9nVDJ3K2RGdTRra1MwcmFhTktkNEtNOWlhK2JnTHo4Q2VFbjJ5bUYwZVh0VDdic21tcWpHa2JWZnN0aFFQcjE3cEtxTE9IUDZFK3N0RlArTGJnN0kySFZPQi9pOVVCK05lVUg5WFp3NThRZnZMQld1aWY5T1NDZlNlVmlUS2ZMVlE0SlVHT1F4T2NoejliZlBReld2NnBHd0RMc21tcGxHa0xWZXRXdXZYV0MrRFg5T0ZYNkR6OENRRW52eDNBQ0lkS2tXVlpaWlQ2YktGcTZoNERKK1NzZGVVZS9vVEhteWdETjNYQW4zM2xMc3V5eWlqMTJVUzFyQUhESHpHVDZSNkYwc09mNEwwYnFsaDA3cDY5K2psU0wwZm9nSjR3SWJldlcwRHRLM0Y5SFlZSFl5MERGTndmTlg1M1ZzWS91MnZFQXgzeWFibGkxeVYvWHBJbXNjbm9aMUlZM0tsWE81cFBoakpRN3JPQmFqNTlPVUpZYldGQ2JxQnJtRVorUVMyYTA2eG9VMjArWFlMeHZLNytobVZhc3NTMGdXcU9lYUJ1QnVRQTlJQTJzQXA0eldnb0kzNk5lZzg1T0w2aTR3WERzbEpWOHJPQmFwLzE1d085ZWl1RldXTkRIQW43d0dnb0kzYUx2ZzBoWndUKzFCMitZVG5SVlBZVFIxWGw3ZUNCOFFLT1lDK285Y1VVZVZ0cUJLQzFPS1JDMGE1eDQ1VERMYWZza2hNYzFlTFJrT0xaaFFwRjAwZ3ZDMnZ1Z29aK2pkVHltM3J0VjhURW5kRjA4M2tteHV0YWZCbGJEVHd3MUE2S3FLcndLZTR5R2ViUTRsQjRXNmVDQUZmYnJHc0d2NU9hWDI2S29hbzJDRjdBaGY0Y20vaUVieDNGVHl5eE9tN1J3ajFvUFlnMlpwbktsWnBtcUJaWnRCUjk3Y0pkZ2xCZnNkNUJZVCs0dnUwRUhJMGVFamIyN3JTM1k1YUpYTGxKaHFwdXRKWTRvTDVxNGx0aHRReHpYOVdMRUlrd0ZOYkJPM3lHQ2MwcHErek1NaWxYYnBLaVdrN1h0aWVZc0VwdFcvanF4cWpta3J6MzI0aS9ESHdVZEgySTZxS1dLYi9jTkVYVk1YdHpuSURmc2ZEQmcvemJoRm50Q2owVTVOZlpZTXFYUUJYL2pvSmFKdXBLVG1wVStEZUs0UmNwbkJWOFJQVUxUWnJWQ3NPL1NoTXJYWE1VS2M2YWI1RG1zdklhYURwbXZkTmRIaS9OUDk0RXlHSDQ4RjdpcWVvOXo0Skg0SGprNlUrbXpvdUpTak1NZjNrYzAvKzlhZi9YVlJEYzg4eUxXUFQ0K1doWHJxdWZRVTAzbGVaRW03NlRDZU91T0NsVU5jU1B4MW9DQzBlSGtvTlBxa0UrN0pjRVc1ajkyei84M2JmQm0wWnJpc1h4UzBYeitDQ3ZuWGY3ZU4yRjhQS1ZoeDc4Z081YVlNZkJ5MWZ1QjlabDRXdm01YVoyMTg4TTBZWHNnQjZLSCsvOTNIZVpBQ2JVbmJReVNzMllFTlVLN0k0V0gzODhLZndKTFU5cTdsMHFOekdxZjM3OHdjYlJSNTdyVDN5ZEUxdWUyT0s3VWJBNFZNVlpQazIvRm9lcU9Ndi83OC9UOU1Cc2RSZFhTNHF6UEZzUGNtM0ZvU3JPTXZmQWJGUEZvU3JPOG13OXlMVVZoNm80eTl3RHMwMFZoNm80eTdQMUlOZFdIS3JpTEhNUHpEWlZIS3JpTE0vV2cxeGJjYWlLczh3OU1OdFVjYWlLc3p4YkQzSnR4YUVxempMM3dHeFR4YUVxenZKc1BjaTFGWWVxT012Y0E3Tk5GWWVxT011ejlTRFhwdi9saGZOUFAxV2M1ZFBFcHYrRjZEU3RTTHFMc3l4ZHpheDRTNStkbFNaZlBjcnkvd0d5ZlFvWFN5bjA1Z0FBQUFCSlJVNUVya0pnZ2c9PSIKfQo="/>
    </extobj>
    <extobj name="334E55B0-647D-440b-865C-3EC943EB4CBC-2">
      <extobjdata type="334E55B0-647D-440b-865C-3EC943EB4CBC" data="ewoJIkltZ1NldHRpbmdKc29uIiA6ICJ7XCJkcGlcIjpcIjYwMFwiLFwiZm9ybWF0XCI6XCJQTkdcIixcInRyYW5zcGFyZW50XCI6dHJ1ZSxcImF1dG9cIjpmYWxzZX0iLAoJIkxhdGV4IiA6ICJYRnNLU2w5M0tFRXNRaWs5WEdaeVlXTjdYSE4xYlZ4c2FXMXBkSE5mZTNVZ1hHbHVJRnh0WVhSb1kyRnNlMVY5ZlNCY2JXbHVYQ0ZjWW1sbktHTmZRU2gxS1N4Y0xHTmZRaWgxS1Z4aWFXY3BmWHRjYzNWdFhHeHBiV2wwYzE5N2RTQmNhVzRnWEcxaGRHaGpZV3g3VlgxOUlGeHRZWGhjSVZ4aWFXY29ZMTlCS0hVcExGd3NZMTlDS0hVcFhHSnBaeWw5Q2x4ZCIsCgkiTGF0ZXhJbWdCYXNlNjQiIDogImlWQk9SdzBLR2dvQUFBQU5TVWhFVWdBQUJRRUFBQUZKQkFNQUFBRFpFUFpOQUFBQU1GQk1WRVgvLy84QUFBQUFBQUFBQUFBQUFBQUFBQUFBQUFBQUFBQUFBQUFBQUFBQUFBQUFBQUFBQUFBQUFBQUFBQUFBQUFBdjNhQjdBQUFBRDNSU1RsTUFadS9kelVTSm1hdTdJbFFRZGpKNFRHb0ZBQUFBQ1hCSVdYTUFBQTdFQUFBT3hBR1ZLdzRiQUFBZ0FFbEVRVlI0QWUxOWZZd2t5VlZuOXRkMGQzVjE5MmhsV1dmSlZqVXpaMlA3a0hPOHM5eGh2S2I2MkRsanJZMnF0UnhHOW9HcWhNQXJJVVMzckQxMjF5eFUyNWl6Rnd3MVdvUE5oMUFWWThQNkJIYTFnTU1DaTZ1NkdZeU1zVjB0WTUxc1pMbEt0dmtRQjZxaGU5aWQ4WDdrL1NJakkrSkY1R2RsVnZWMlYyWCtVUmtmTDk2TGVQbnl4WHN2SXFNc0s3OWVVQTRVMzlsNlFlbWZIUEhDdDU4Y3JaeFNjZzdjT0U0T2U4WWg3YmVjOFFGTVpmY0w5bmRNNWJpQ0JqVTg3Z1lWNTJVdktBZXVPNE1YbFA1SkVsOXk3ajFKY2ptdEpCd29scDlKQWpZbE1QMWJVektRS1JyR0RhYzJSYU9KRzhxeWN6VU9KSzgvWVE0MFowc3JsRytmTUg5emNqRWNPT2Q4S3daaXVxcUh6dUYwRFNqTmFHNDRzZGRSR3J5cDJsUXpQcEcxNzR3aWUrMThWTzA0NmthbGY4NTVmaHhrenphT1Rxd0FPczdPQ1EyeGFHZWNoT3V2anVycHdwMm8ybkhValV5L1BEdlJ6MUQrVmhOSTRGNW82L0ZXTEdhY2hGZWlRem5GOG9SRHdLUFRIODZVNXhVc0xhdVF3S05QK2E2WFBmaDRXY3JtemVDbVl5OHRPZGxrdmZsdjBWMjZOdUVROE9qMFY1eVlMa2NQYUNwcWl6WUU3VEJ3S0wvN0ZVOEdUeWhHaDY1MEF6dVNzSERST1I4TnVUSFpFSEFLK2dYbjVJenNhTjY4Z0xWVmlGbVlQYnp4SlZjR0oyNC84ZUV2TzA5bjRrUGpxYmptbll4MlpqVCtOUFRySVc5L05LWHBxbDJHa0lYYncwKzZJdGc5a1NFUG5XZXowRGtYSDk4OTUreG5vUkRkTmhYOWRyWXhSL2Zvck5TV0lXVDdvWjJkWTlYQnMzUm9HNzFpcmZJZjlZS3dYRE9iR1ZoTk1JZVhud3NqbnIwOEZmMFZKMVp4WisvWmFjZlFob2hGV0hycnFMNlVaUXoxaE8wM0hLZVZnVTdSL3RmNDF1MW9iemtlUVRoRU92b1lkRGNjNTR6VXpFSEVvcDc5UjhQdHhDUWNXZ0wyUk8vNXFwUEozbHgwdHVPN3M1N3RaWW9pa0pKK0padmlqK3JSMmFsclFFYTJJN3BiVHlaQklSaWk3VXpTYUJpbGlRbGNTTElVOVJiSk5uYWlsMEdDajVCSVNiK2ZHNEtXTlIranBkWXpoUXhZd05GSjhpUWJ6czBrWUNFd3hXU09kR2xTMDNCYStyMU1yM2NJTTg1YU1XeVI2SlczZnBaMU9hWURrd1JCaWs2bStXZ2xtUzVaaU5UMkdaNWNXdnFybVY3dkRCMCtWVTM3RUpLb3pmRXJFYjV5N0VBS1FKN0FSN0RnOFF4aWtZVURESlBKNzFxMnFYNzg5TmNjNXlBYzY2elVzSWt5MGdzb1p3blVsYUtDUFlyRkM5bVVRVE9oVDFtZTBDSkVXdnBRL1ZjVkUyWTFGYkV5eDFreVRLTEV3cmkzOGVndmhWWFI4cUZ6bTJaSFRHOGtNd010cTU4dHVCbldyZlQwSzg1czdZa001bUFWU2pCc1pZNjFXRTVpeUFXalRseGFUelJYaDZGYmpldy9hZFZ6dGtodWJNbjA5UHZPQktQa1l4dmZwQkhGUlV5S2lTSWQyWHBwSjNNbFFvajBrZ2I2VmlaakNLYW4zMDdrcDRVTWUzcUt5MUNDK3hIRGFkUWlLc2RTQlljbHk4cExQK2xHdTZYSlBQRDA5RGVkaEJic1dOaDhhcEhFck14WnZ6TnhmdzJ1OEY0RzlwUVRhMmtuTWVRbzNVbFBIMjdneEprN3lraGVJTmk0bGJuSmR5dmJnOWhJcnRtYVNiWGxLR1BPUVA5YzlPd3pTaS9PTkd6Y3l0ekVCNGZKcUpXZXlITHlsWVZTcHRrK3BJc1o2Q01ndUJXQ2RhYUtyOE1Rbk5pU2FSSk9WcE10M1lXZzJreSsyNzJkMUdzT0lSVlluSUUrQW9MZkNzUTVZNFd4SzNPVDVrYy9ZcHRzUE8xcThqWGxoVWxFUDdMUXR5ZmpuY2N6N1pSQjlLRUVvMWJtSnQzZFJxYUE5Rzd5NWQ2VjZPV2ZkT1BNUXIrU05KaWVybXRucHRVaUpEQnlaUzVvSklXL2U5bUR2M28zYytVK2VmZlJQVC9PUVpZZXNpOSthQ0RBdi9EZlh2eklCMS9wNWpUbzEvMlVnT0IzTzFBMWZmN243WXUvM2RJaGczSVZ3NzE0aWYzS25TQTRsTUhwQ3FueEZSZS9mUGZSNi83V1Z4eFFrSVYrUGJrWEZVQjVlb3BpVithQ2h0cUIyTHJCaEM4NlI3Ymp2SjdCWUZ2L0JYd0FLaUlNS0hZODlkWmhTUlo2SU5BQ0s2eWhnTzhXWDRKUFdHem5Ua3RBaGQ2TmlNWTMwUVcxeG5mWHJTNXBDSHRqUUxJUnlibW00OXp0T0w4WkFTS3FzdER2SjM4bEJMbnB2SGNnSFZFcmMwR2pabTBZOHo5NkJJMzJSMjVZb2RoOGVtQXRWYVErRFpCQUFpMlJZaWUxM3g2L3l6bCtxV1g5dlIwZ203S2htMERyQVNsWmN0NWxxVytQNFd6dWtVckxpZnVvMHdPZXM1M1hkcTJOSDAyd05TMFRmVEN4UmZzM3MrbTRsYmtneHZ6ZUl4VW1nUVg3TVZickdqVFhudTRpaWVqZVBtNjQvdStqZ09ENktBQ2F3K0FYQWVsblpjWkxmTk01T3MrU3k1cDRtVkFzajVnYUxSNCtZMW1iOG5XQ2ZiRlBhOHQ2bGxiUjlFYkYrVFkzWDQ5L0x6UFJIMFp2enFSOW12SjBHYUt5UCtvWUN4REJnK3Q0NHJoNllHWFJkb1dHVHFxZkVSSm9XUWIwd0czbS9rRCtiNnFjbTRKUTd2T2kramEvaC82dWFvNjAyNGNGcVlYUkxiZFBvblVqV2Z5dEwrYnhCTnN5TXRGSC93NUYzMmI3M29ZRWpyNExhd2dKck95NG5GdkIwdTRpRjBhcm9YYjdRUnE1RGdTUUFhMFl6dHFxbkp1cWV6NWk0VDBCRTdRT095L0ZqWld2TUk5cVUzYWdvMC9SVnQwbjZ6b3luc01yc2VlbVBtYkhUNUtaNkc4S1NrSGRtS215ZEN0ejROK252TzFGekpZcjFUalA2R08zbFFRYTBJcS9tQ3EzVlk2bE1KSFgzSkpya1IrVHVpQ2JXa0JqeUN6S3RpTVcvT3Y2RkkwZGduNkwwOFdpL1RTOUFIM0Jab1p1ekpXSi9ueStSMVd3dHdFbHVDMHlTZStRcWJzODdRVmw5OVJGcjExUHlBL3laVTBDQ2JRbnVhd0pIc00rdTZ0TE9qT1ZlQWxzYTZHY1pnMVk4QXA0dU1wR3RLTVQ1SFVydWp5Rk4rS3FtMElpWGdJejBWL3dxMyt6TjdPU3Z3NW1qN3d5QjlFcEN4MkI5dDRrakVsUVNWUkZTYUFPVFk2SkFmeWV4bWZNZ2p4QXpyNHo4U3V0b2daY3BlYkRocXY4Nm1JV1p1K0ZCanlrd0ZvTnlhQjUxODIyUWI1RktnS1RtZWhEMlc4RllwMjl3bFFyYzVBcGVlcU1yWGlKNG0zQlFWMENDVFNKZ09OQjF3UzhleThKMVlPNTNXY2lXaHUya0hvUG1BUnNsbDIwQ0NOeWZBakdrRXFVdFEySjVHRDZMeXdTNzEycWt2SHBNQ1JYb2lSR3BROFQrQ2JCTmRQSlhUenNVVmZtSUdwU3haU1ZJcU5UaXk2QkJKcnMvUjhhRGlIZUJxOFdPc3dmalpsWEdwWTlzVjBaZWtGbWs4a081TllUSVVSSzlBZThxVlF5YXh0NG9UdmJ2S0tub3FSZlIwL0VkZkdOOUJYSVJEOGdEQkRZcDFrb1pEWVAwVXVKaGd3SmxDcW1MUFNXWlFIVmxtaXZTeUNCbHVyUWRaSVBCVHk3UTRJOUNiSkt6c3Rwalp1dUN3SGhOWFU2VHcrWndDbkZncDVzY3lqdmQxUEl0bGFxWjlSSTVweWpIYSt1Q3ZhUTZ6SFZKQk45U0tEZnlsQzRaeXFWWm1VT0V2aXNZRkpabVV6aEVraWdpUVJXamFCZFNVbHc4ZTBDdjd4RFEyN0pEQklOMVFjb3hEMlViRXAxakZTTndxS0s2RjZ0Um1Zd0NjdVBPai9ka3NXZi9SZkhlZm9QUG9mcnMyL0ZXTS9MaWt6MG9hUnpDUlNzN0RocXpoRmxNWGRJSU5NNTdvV25JcExoRWtpZ0l5VFFObVpsZ1pmZm9TR2xJTE1TVFFMZTFrSUpSckxEYWl5cktsTThEd2trZEwweTQ0WkJQV2NVdVZsWUJLTDdpSmRMZXlJYmZVamc4MEhFWnJJTUUwTDg0OUU1ZzRlMUpVb1NTU0NCSnBJQWlUa1FhSERIODNXNkpHOGtkNDJIMXRRRkV0QXFJZzVZSGRPODBtOEdXcG50R3hJdUttQmRib3MwWUdTUE05SEhXSE1KRkZ4RjZFN09YcklzT2dFSnZDUWd5dXJaUWdjS2JZSDFZcmttRWdMdDZpejVQSUVPY0JGVEpYUGFoWlhvMHE0b1lsNWZNRjE2cVlxSktZRUVRZ052ZTgyMUc5UlZUUlJBRDIrSmRDYjZrRUJwR3d1RXMzdHY0OWxLeVVuRWhoQ1pHbFVDUzBTamdPNHdaQnJrWFZwOGlrNkJLUE5KQUFuQkdLQ3VreE16TWliaGgwRXdHTldPS0lldEtBVW5FLzFjQWdWTDJSMXNOU0xEdERZb1BSa0p4TlFaWVozM3Q4bFNNK3VVVHdKVWxCY1RweFFVM3Y5NEhRaFY1N1E0c1A2N3FReGRDMklxYmNWTTlQTlpXR055MDV5enROcUF6Smdrc0tQcndES1o0bnhFQzA3TFdHbnoyV0U5K1NKQm1neWxQaDlyNm1LQ2xhNndScjFLdUlPMUd1bUtaS0tmUzZERzQ4Nm9JZW54U2VCNTFSRzJFcmV2c2tacThTbmlhTGgxbWkvTVNrb3lpbzJKYzl1RmtUL3hFdGcyVkt4c3VxdUVqc1c4NVU2aVRQVHhqa1RvZTBsN1JoS0lDQTVHRytwRUpCQlBsMFRiekE2VkxtRVJSSE53ZlJMUWxFb01FMmROUnhBZkQ2d1M0ZExhVnNpTVRnVW5FMzJLU0tNMms1bEY5VjRuSFArWUpCQVBuZWhBT0JMaGIwSVJWU1c5dm01cUVlVUtBN0YwSHZpUU5tUFhmVHBoOFJFNm8yUGcyNEpIbWVoREFyWGdwa0E2bS9mR2lINklHemU1SkhpVklSb3oxTHhQbUVZeXRpMlF5L3NxNGl3QVA1QUZiRjFZOXpiZ0pZaG9EYlFsQVdUSm5nb09HVFVpMjZlU0pncHhwK0ZBQzBBRFVaZUpQb0t3TndXaW1iK3ZFMHM3SVRQR3BBTjcybVNKaDBLaTFVWlBPbHZ1QndFMVV0eVJBc2NMSWNGQ3JmakNnUW4yeHRSSmpKTlFZWitqU0tvUWNta0dXcG5vcXlWc1NtdEcwOVZSL1pDeDZjQk42Ynd5MXVOUmgrNlFLTEtOV1FEZko4L0kzUEtIWUl4UXpOeGpYZDlUME5wbVBsVk1VdENiVjBsV0ptazQ4T3ZVYk1oRVgwV09KS0daVFdCSCttRFV3WTlKQjBLa3lFT0hEcnNkMXBFVlZtTjR1T1pmSWlDY3NzL2JlK0hBM2hiUHN0K09NV1dyR3BIQ0JMc3YwdlNPVG9vc0xGV3lZeWNUZldNc2dzSk0zaGZJeEpLVUFXT1NRTWpNdGlLSjV5c1cxVlNobDZxeUhZekd6S1YvcCtFcTVob0g5K2JqRGhIdnZ1bTJlSWpWcmFNcFpGV3V3b0dGaG5PN3F5b3kwUWNIOXhXcTJVNDFSL1pEeGpZTGsza1R6d0R4UUNxQkc4cmlzaXozYzFERGYxd3c3RmNvcS9QOFVYcDQ2NGZxeWRaakRmKzJMb0ZERHhjY0hpOEcvZGRONTNaTFljUnVSbjBWZXlUNkFLNFJYTE9jUEJkdWZJV3paVXc2RUw3SEZpRWk5OWk3WmRlSUJQSTk4Rmc5Zko2QW0zOExnNGQ2d0t1UjJrZXFQT0JaOXR1VU5xSzE5T2d2cUhLVndwaXVxbHlCZndLTkFuZzFEK042LzMzT2tmNzNBR25wdTBTVXVDcWFNNW9hZVQyRThXbE1FZ2lSRXQ0cncxcW52bkRSM21abC9ISS94V1NMc3MrSUV0d3gxM1pKbG5WcWgrY3hvUjVDcDlKRk5sdHArdDFnOVlQWDRaSkNkMTNxTjBkZXQzNUcxU09WbHI2THBDMWZGdzNuREdZdzlRMUdIL2FZSkJBZUExVnFlQ3FxS3plT3V5cFRoa0JabHZFQkhBUnlvRUJjUitXQTU4dnU0ejNIdkJmdlFsT3Zqc1gzTkVFV0lPREVUWkcyaXVWN3ZiUUtCMzY2N2p6ZGxSQVdleUVHSk1zY3BTVDBlWk5xeURZSWluQTIwamNDbjBiYzJER0hiQWtZVzhrTlBBdjVFTW1VcWtNVHpZU0hUcFVhUEkwZGdYWEpGaUtBa25PZVFqS2NaV24zOFVZd0V3L2RGUEF3MlpnbkFXdElTNHRETVgvR01PQzhpZ1p4bHgrUThrL0NnY1dtN3JTbG84K3A5UlhYUFBLemVtdW1Nb2g3Uk5Ud1FMc2U5eUJxY3JtZFBPWVFhRFRTencvRSt2UlY4Uno2TkRUWTlqU2xFV2h1dXRhZWFNRjBFbTlld3VsclhlelUzNUpWMklBbUJSK3ZpUkpIQldGWjF4MUpjMTExQkpwTnZoWkljeG5uemRMUjUyM3JpaGp0dyt5bFUva2hiRUhNZWM1akZxd2hLY1I5cGFSWXNYaHlCdlNlWW5OVDgzNnRxbFNKUHlCeE11QktqVGRwNklwalZ5bGl0OTdiTGpYbmZOd1ZzUXFSbGhWSFRzbHdsSFZCNHJqZDViY0RubDRxeXkxWUxBd3VBSmkzVG5WMk92b2NXMU40MkJMNWpDWTZEcG5zRXZMZ0h4NStnajNFVnozOExxdnc4S00ya2tjZmZuaGdQU21LZjA0V3YvKy9XMVlJTktmVjErZERSQVIzM0lvWE9mZVR6cXdmc1MvVmNFR1V1NlM4cWpTdVc5cm1ZbFovRGF5Kzg5WTZYZUtiVi9NbjNCODk3aUl4aXFqMVhPVldTeGFxY0NDSzFJY29yRDRkZlk0NVAwZWE4NEdZUjd3Z3lXK0hQVUoyL1p0cjFmUDBBZHMzd0s5L1ZjVlFsQjFSckVOelFsV2lZRmpKQTg3dGdXWDlTTk41TTYvbnYyMkJBbmRVeTJ0VDAwaHdEV3puRjYzaUY0OWFrSTE3cmI0M2RidmdRK0owTngzSDNwZElTR0xKZG40RnF2QXJ6aTFQRjdJNkdRNWttYjU0UlZnRzZwRnF4TVQwM2JiRVhuSHpzL3B6blJqZmlYblFPYnB3K2NxVnl4ZHd5dW1TYytIaVBWZnV1L3NDdk1DaEtHWVN5SW92MzIwekNSVEZPalNuMWpNdE1qeml5N1p6cEFmc0lETHlJcklCbjBKT3JSemRaeHpub2p2RFFwYkswZ2hnZFgxbm00UGdkNzN5aHA3S3lXSldnNzBSc0NHMTA2aWJsRVZWWlhFQVBDVjlSaEVlOWhhN3oveFYwU3hya3gzL2VHaVdqRHNQMC82OGp2T0g3blB1K2VXQlZqWW5wMU1JYkkxVUxTbjN3aXY5K0h2dFYzMlZwZWMrZVB3WWdVUkFXcU96dVUwclZYcnBvZkx4bTc2bThrZ1JuOHVDYmxWaFJTWkcwcjN4bWlTbHoyUjlUeU16bzVsbFU0bm9mR2hPWEFJVFBZaWVuRTRSaHR5blhiUTFQVWRyakRRTXd5NHQ2bDJsdWFnMDdKUnRWVi9TZlpqVTlOazVpUWNLN2V5bVNuUVZ3TWVHZ3Y3VWZQVmpLTkNmYndqQ3B0UVdVSm5iRkdoWEYwaGFwYWZYZFovYkdrcVVPcHcvaDNla3BrcnJtaDBJRzNGZjFVV2xUUHBzL2FZYjFXQkc2alljR08zaGwzc3VibmoxV0dwc0ZjSU93N2NtSjJGemN3dzJQdDhNYTZXWEwyaHJMekJPRC9YNjhCeVUxWTZxTlQ2blMwMGZHMmJscXAvQ1BudXBHRCtrU3JZR1RJbzVkY09kREtCelhTMXRRQ0U5U3lFUy8zRjFXOWVkVnAxSUZVWG9UMjlTYngzMG42TWdxZWxiSlIwUlJUcEw2V2cvcEdoclQzc3lqS2xHVzZLTWFHTlBra2E4VU5xRXJMQ1FWSlBVcVNKRFExdWlqRXNNS1FtRWhTN1JCcW5wd3pNNkFlYlNycDdLZEl3ZnNxcFdwaWJYL1FXZk8yblNXaVArSnN4R1hTL1h0ZmlnMlZUbWk4WVMyRWJ5S2JCUDFpNktaVE40bEpJKzg3Q3Z5dDdOYnFKa1RFMEdKK29uNGExaFhoc1lkSTFzbTBaOXlZa0ZMbGd2MllNOHA2dE9hMW1YWTRPaWxxWGh3TDlnUVhqdFNrbmZnakkvMEJETlpBYlJyRzdFd0xGZExxSjJYRlVJazlRaWNSWExXNlRlTmladFU3UUlLRTMyREovMStrMWFHNWttbGlmQzNFY0RIVGdsZmJoVVJMUHJLR2NvZDgxUURNYlFzU1hkS0psSXR1RnNSZUo5UUxPOHluUVBLMnRYVHRUSlhTUDBVYTlGMGlTVlVGYkM4bHRxT3M0SFNKV2JURWNmNjNscTY0T0pjbmJ5WlgyWndCajROL1J0SUVidCtMSkRjMkxUVUcrOENOK09ERVRSWjkvbU9NNVBmRTVrMmIxcXVCaTBUcVlMaHZWWWlGVCtzaG0yeEg3aWk0NXp2N3NwNGhPZmhCSDRlbExIazZub3N4TnVja2NFRXdIOUxNaGtMZlpsSm8yMW1VMUh5eTlHcVZwWWlleHFjWlJZazNPdkxVSmhPVWFGdXFDTGhzRzdtTkFNaENHaVhiOUdDSHZKVlBUWnR5ZDdmbHl6VnRJM0hvczIvamtick4vWGlpYVVnWHZiRFVXOTdseThjdGtXR3V1YWd4MFI5OTJ0NzJzcFI3MUhIdUtTd09EbDYxZERLV29WYkRlMXZDNSthRWVyOURKcDZMTzl0TjBnWkROVkZ1bUgvQ1VUd0NUejJ4aFkxb3h4UldKSXRPTjhhZlo1aWU3Qnpoa0NHVU1odWpvRmZmYnZlUW5lbTJpNlo3ODJ3Zy9aK0pMNzRwK1F0OWJPTnR1dnhXK3hYVFUyQUZXMXFIYkdSNW1DUGp1Q1NYN01rSkg4R1c0ZTVvZDg0YzhmOGlhZUUzcE5Wekt1VC9WdnhUMkZ1akdTUDI3RnRSaWxmblQ2Ykt0MWJSUVNVd21McjYzZllWNFBQdkliVjhxZStPR21UMTBUNDBJeE9pd1pTL2RjbkwxS3ZqcUtSWllDSUFYOWdobFRTa0gyekRmWlZaSVdsdG82b1VHV01pcUUzWmpRV2lkUnlERDlZRWVudjNKU2IzZjZRVTI4SlFLdHNkZEp4UXRXTXhwRjY1RnhUZmlkRXg3STZQU0hjV3A3NHMvL2hTY2dRbXRSWWpnNG9XNFc3VHZaS0hVaVBZdWV0cDhxRzZYZzFpUFRMNC9UR1EvdTA2a3Z2UllsZXJ4TzdRdWQ5R2c2aHE4NktyM0N1NkphZktZVlZUdU91bEhwSjF4TUhrZlhjaHlKT0xDY2NScE9ST1FVQVEyanpZWlQxTk9aNlVvbE5xQXlWYXhJdHB0aHFvWjgyZ2V6a05FYlB1M2owL3UzSExVY3FvUG11UlBpUU5GKzVvUW9uUVl5cGRuUytLZUI1ZkY5dUJhL3VCdVA1SXhBTE1Vdkk1NlJrVXhUTnd2MnE2ZHBPSkZqYVI5M0krdnp5aGVFQTlkT0x2Ynpnb3hQRVMyVzM2SXllZXJVY0tENG50YXA2Y3RrTzFKNHhXVHg1OWh6RHVRY3lEbVFjeURuUU02Qm5BTTVCM0lPNUJ6SU9aQnpJT2RBem9HenlZR05IN1AxcU1GYXBYVTJSNUwzK2t4eTRQTmw3QkU4SUYwdk5rL2lFQmxDTUUvT05BZjRVUVUxd29QSWt3MElYSjdNT1RBR0RoUXFSKytyNkdkYURlT1BPaDBENFJ4RnpnR1hBL1BIQit5L3JPZ3NYRTl5UEV2T3Zwd0Q0K0hBK282Ri93OFg1d1c1T1BOL3Z4Z1BhM01zb1J6NGswZnZ1NHpySHZGbDQ2YjJVVFUrN2h5RU5zMHJjZzVrNXNCY2szOGZwdzVLNkdsSExLNXE4cGlaWEk0ZzU0RE9BZmVzTmk2RFl2TmFTZnQrYlpqeGJCZWRYSjdMT2FCellLUHNITDM3bi9TeXBuWkVlRU9UUngweXorVWN5TXFCa25NTHZvZDI0WUJ4VW9RL2R0N1dxdk5Nem9FeGNtRFpPUjZZNk5hMXM5NXhtdTJoQ1pIbmN3Nk1pd1AxZ0tOOTVqWERiNmlIWnNaRk9NZVRjNEJ4WU00NGFON2xTa2M3NjcyU3U4SzVySXlIQTM5NjRmczlSSVUvRXhpclFUTnNrNTR2aG1oZ3pCRjlBbGQrenprUXlZRy9jcTQ0MzgwaE9qTEVYQTZRTHJnZUE0VUovNFViZVQ2YWdzeFRPUWVpT0ZBc2Y4QXFlMGRHMkVMenpjbi9EQ0pONFp5UVhOM0pWNFVKTy9Ka2FnNnNRdHMxK0lZRC9LR0ZGMjJaRndtS2RwN2Foa3VJVmRkb2JaN09PWkNPQTZWdEMvOXJXMk9Oc1FPd3krNzRmNm1nQTB5MVA1MjZEZ2tjdUxENVQ4NkJUQndvdC9CUGdEejBvaFo2bTBISFZtbC9PdFdBQkdhaW16Zk9PZUJ5WUE3YURpN0dlWmJabEgvcUUyVGlhWTRJTy9ROFNFL21YTTA1TUNJSEZ2QUhJZmpEd2k1ck5oU0czaElOdXdpRW1pUFNoZ1FtL0NkQTBUNi81eHdJNGtCdnk3TG1QWFhXRjFzTjVvUlBURnRzVXBFckgrZjdFaWh6VG1INmo4Z2Evamk3Vi9pMmNXS3pySTlnYlZmb3ZxYVlmTThGdWNJbDhsZHZLODZyeXdKNHZQM0pzWTJKQTh0SHJURmhNdEdVcjVvbG1mTjFiN1hORnBPdjlnZW1tRy9kL1lIVUVlazcvM3hDLy9PYWVYQ3ppcUR4Zk5qSU4zNDZyQ1paK1kxYjNXU0F5YUZzdnUxUE9DVHNmMGIxaS8yWkhJS0ZCd0xsa3ZNTVhKSHpJcHZmVHg4SFZvT21NZDdOZG5oVm9uRVU3SHNUd1NVSGdqQzVzalVuTjdzc094Zlo5eUhpdW1jZnlMQVpxeXR3WG5OcU5DdUs4L3ZwNFVBbDNFOXNadFVkdzNFZk9ZdzUxK1hjaXR6K0YyUUh6anZ5dFBlaWZSdWZ6ZEVsdXRQRCthbnRDVDZhdUhEeDhwVXJWeTVmY0Y0ZU84cVY4QVVyS0p4YWJQdGxXNThGTDM2ZjNMUmlXV3ZqM3BvODc5eDJleVR1YkcrV3Y0OXREd3FnTjlDRG5vd2R4bzRtQnhnSEJ4YUpTSVRyTjBGcE56eFlpeTBsK3dJczlMNUpxSG5KMXlyZ1hTNHdxaUJqU3JqQ2JSbHUyZEMrQitIbysyb3pGdnUzbzVJRXprZzliNTZNQTB2dmVPVHhKMXhoZU5OUHgxcmdTNTV2R1lSNjF3bDR1aWJnMm9PUFZ4aXhWejdzWG8reXpIK1FRQXRCMFRwWk8zcENoQUhKbDNEMnN6NDBEYmxCZXBXTm9KSHZ6Zkt4YVBJRkg0RWdKUG1MaSt2aHBoNzh6YUNOVHdGOWg2Z3F3K3N1Tk1OajUxZGh6QSsvN2tYMkdpemc5OEFPSTFKL3pxT2xiaFdoQTRzVnB1RnRFaDFVUUhscXNoeGdZYktEQkNRaS9wT1B4VG0yRXFCZzB4ejl6KzBHa1VlclAxNG5vT2tabG01UXB1Rks0UERJMTBkYjJJRTMyTHVBeitZdStVRHlna2x6QU1lbUpOa1BNaWNXdHdMNlV3V0ttd0hsL3FLNkJzaUVmMThBelFjNENxSXV4YjNKTVVNOUgwSzN1UWhXL1JSc3ova3QyR3o3TkxZSFFnN3o2NFE1c0VrVlVUanRYc0JuWmdLNkRFbnkyMWlpbHQ0QlNaNXgwWGFjWjBUMTNIaW40UWJ2TC9ZbjdGZ2IzSWNLbU9ncjN2YlZQM1NuQVd3bDNCZmR5ZThueG9GcXNvOXpHaXAwYTNiTlBRVXlkTG1FUW1PYTB4eU9YWWNFNE1TdWV0b2dmWHFYQzlPUUJhU1hQVEd2KzFZVm00NDdXWC9HK1I1R0NUcTVscDVpM2pJbEJ5QUZiSDBxNXRxSWlKVDFub1lxU1lDRFJmMzBQY2lRRDdVbnVaUElISTNwcDZ5dXVwWXAwN0pkYTM2TEZ5ODYzeUhyZWFLUERZRmRhODZkZ3kwTDBhbWFBWkJuSjg4QlNFOENHMjQxWXBwdFBOdE11SzhPcTE2YXpkbERIbVlhdnhZU2VqTUNQdnErNEU3cUgzbktoZzdzMXpoc3NYeTBvN2RpSGJqemlIMDhjSXRoRXIvOGI3WjBpRHczY1E3Z0dXekhFeG1HbTRGTHp2bDZzcG1jSFJiSlRUS1A0Q2FJN3duaTY0NC9XaUxxUnI4WG5PTVd2aEU1N0RpMUpla0RYeFBCRjRFUFppS3U0L004ajhCNnNyaUFhSjdmeDhDQmhKK0hOZFZzYVJKZE9MWjJuWWhKbXNCRDVXaFN4aDc1dnFndnloVmNVWkxwL2czbjF1UE9hN0FXZDZmNUdvR28ySFJlMFJVWjk5NUVEMjRkZUVWc2plaCtyVHJQVEo0RFRBc1lVMU1BMFNMeEdNenEvdk1zektmcE5oTkU1RHZHQitGTUI5WkVwZmk4VXVZekpqNzV2Y2UvQlJSUGxsL1prcGd3Mmp0Zmt6a2sxcDQ0ZXVOQUZPQnRmTE5JNS9lVDRnQjc3K05wclp2VGwycFNoQmFySm92b1dIWEQ1bXlEdURjREFtRTFpVG1nQ0tkS2ZRd1UrUzR0ZVlvdndmUDdQMHd5ZWZKa09BQTFKTmZKd2lrdWhNZWpWK0JzRHAxa00yaFpDd2U2U3lSd0ZNUzFHVTVFZ0dTL1Aya3pHV1JYSXU4OU84RWNRd3dIcW9tY2lHRzRlaHJDc3V2aGdjYlFZZFZtT05DcWFPSy9HcTVvRXlCUENyTHg1ZnVZL0htNzlKTzJ5dUVteG9IZFJNcWdUc3cxb3l1VlMreWJYTExYMktnbldUTWN5SFkwZU1GaUJqVVhZV3dTTEhseXVqZ0FOWFF6ZmtUaDNzb2M4Mk9ZVDl1S3gyS0dBOW1PaG0zVkRBSTVVTGs4TlNNYzBJVWdaTkJ3RWtOcXJPdHNaeW5iM1FCQmpMdk1jR0FIelZxa1VWbUZwMGxwbnB4cURrQzJ3aWRZT2ZKejRkNUsvVmxBTVdWMlhrS0hKbnA2T0xCZ2E1TXcyeUI2TmJSdFhqR2xIRWdXRGx3TTlSRTJYTFhGdGxrZHhuT29xb2NEYjZEVkFXMVZTbUlRMEFaNSt1eHpJRms0Y0pNNkROcWdGOTE5cFV5Tzk3VHl3TXl1Wm5NV1lZTHFFWkhoZURkb0JmWWhMenhsSE5qVTRpRmhuYXVHaWtiSmxTRzJQMnMvckxFcWg4aVJhZmJySU4xVmxVaHBoN2hvTlhsbWFqbUFpWkh0RG82NWRzT214Nks5ejVxeU1NczJTMFJlZWpqd0x4SEZObWJ1QlllNU5mazFVeHpBeEtqUGhJR2piNFo5UDdITWZWa2NmaEVHUWZBeHIyY2c4cCszSGVjblJjYTdxNi9MallvOE83MGN3TVI0TTM1MDNoa3Nmc0EyRmtSd3NkQnlQQnBtTFhvb0NsL0JGSHpleThnYjRvVXluU2RtaEFNUWl1MzRvWWI2R1d4QmhGMkpKSkI1UFRpZzRjcVYrOHFZZ2QvZGNsdlNINWlUL2tMckN6OFlkcjJkTnM3VFo1SUR5Y0tCL0lPemdBR3VpVGcwWk90YkFmVjYwU2FnMVBWZFg5VnJrWU01dWVNclpCdnR3NjVESDNSZWNNWTRrQ3djQ0RuMXpaanVRT2ZGcnNCeUVuT3lTc1QwZDkvcE9QL0ZaQmJNU1Q4ZDlwS0VYVmROREhuK3JIRWdXVGdRSjZEdEJJNXNWeWcrbUpOa2kwRWdyTVYyVW0rcEt1UitVK1hjRkhSdHpTaEM5ajFoOHVjY0IvZktqeUl2T2JVYzJFd1VEb1NtSEFRTm9TQUZwcUd2dHdVQlcyd3YxcjZxZ1c0enZ4dUNPVWtBRkdpZW1sNE9WQk9GQStHanRvSjRzQ28vQWFvbndRTmRSaWZaa3N3R0xCVUFBQ0FBU1VSQlZIL21UdVFXQmZVa0x6dXJITUJVbUNBY2lHWGZidEFJTzNMbTdUdnh3V1JtMExVSUdtWUIwRHlxY2dray9KbU5KQ2JHbS9FakRaTkErNnBvMjBud3FSTG1jcWt6V1R1MmtDSVJjRVJKNHRxQ1pINmZDZzVBQ0xiakI0TE5WOTBBcUhOS2hWWHA4UnNCb0t3SU9rKzR6aHdDeEEwRmJGTlhKUVJOVERHUTV0ZHA1b0N1OGRqRVdJdDVwS2lHN0FRQnRaMEw0cklOL1JZRXZtbDZLMURBeGpwd0xvR25XWGJHMHpkZEFwT0ZBOE1rc0tsM0tVanFhRmxWM3gzSU5xVHEwekw3TTBLOWY3UjV3clRlcHp4MzZqaWdQK0ZrNGNBUUNWeHlmdjM5NG9Jd3FTazVSRloyVFpzVEJjYnNudXZBVXljd1krK1FMb0diaWNLQmJCTisxeTlXQzhTcVk1OHFEZndnV2tuRmREenFhTlRTUU93RU8yeTBCbm5takhPZ21pU001NTZyMS9XUHRQOHRWY2FVNllIS0JxWUFjcWhWTkZEUzFVcHlDZFRZTVFNWnpJT0dOeG80Nk1Cb1RKSDZNQWsrVldKZXowQkRENlZvZURpSlBITU5SNTQ1Mnh5QURPalRjdkJ3QXRkRVZtaHdqMzBKWEF0dUxFcVoxeVBTL0k0QzQvUnljNTdXNGZQYzlIRUFNckNkWUZRUW5oMGZXRlV1aUtDS2lkZWVEMFFyd0VTdEgxRERJdEw2RndMWXhyK3Z0WEV6RzJIYkEzL3c3WDdndk9RTWNLRDRUdkY5aGhZT1hIcmlWczNyL2Y5bTk2WHl2cGRscXhjSElpM3Y1VzJaWkFkdXhLcXZUVlBlMkNlZXhKUUV0c0M5TWZuK1FNTG42VWhXWldTWWFTNmgzSXJOVzVXamdUdkNxaXR2YmFXZ2d2YnRyV3RHSGRObjI5SHNBVm5kNXV5aHpWV3REZDZJODFvQnk3RFhKT3pTbS91YTVnV25rZ1BzaXpYUC9NSXBHdEtZdTNHbnUrakZRdmkvUHRlVjJZWW1OWE1zdmFkcENmdFVhWXNXK05PN3BzM1pRSnVCQmdjNUZpOEVLYy8zQnhKbVRFT1NPUTJlUzlBbWgrODI5NnhsL3I5K2tEZW1pU0FnWFRIZUFDT3ZvUjFMbitCVHBZcWhKWm5RNm1ZZ2puMDI0b09DZm42ZkpnNnc0TEduQTNmVk90a2NpbGI0WWREUVJDME1lRWdVVXRrM3hlTDRjbzBwUVBxc1Z1RExBS0pHQzltWkhaZG9nZnQvMDNwQm5wdEdEbXppeVh1NkI2bXIzaEFYNEJNczhvMENVSktzRVBiWHdLdTBtcjRwOXJvdmprS09WZmloWDk4UkxlV2RxVHl0dEFrVFFCTGdZS3ZpMVpDdHBqUlJmR2RyU2tkbURxdnc3V1lKUCsrVTZ4NTIxb2JnUkFtaTJIT2VZK0FMRGw5dTIxV3pjTituNEJvMEZvTkdaZUpud01FeHBsY0FNR0pkM01YRlBPSG5SY2E3enljN2tkOW9kUWF6TjR6Mzl3d09JV21YN2JmNElLRURiN1hjMGg2UmxQSUJPOVVaaWxBS0lrNXhjYUhZais5SW9Ua3prbDBoLzJsVGhYQUJuWDRoSEVqWnpvNHRVanJXQSswNWhsenJLS1ltVjdBMUkzcHF4aFUwa09GeDF5eWVQL29mbm5nMDFTUmNaRDV4aFZ0N0hVODNMYW9Bc3U5SW9iNXBHRGFJTkNOdFZydXFsM3JQUHdDWTd6YTdOdVN2Z0ZrOGRmbnJ2bmR2Nm9Zb0I3VGszQ3ZUWG1KWlRJYVlGNlZXS3J6QlBXZjhQSU9wZS9wdFJVbk1LcmNRSlNxWWlqZGx4azJVeVc1VHBQMmlWTksrNS95ZkFGSG9CYXFTejl3VU5WTjFMNVpuUTlYemg5Wlhpc3g3aWh2Q0plMFl4OGxESXJzTVJqaStxLy9xdFdDTGJqSnV5TXJZcVVOM3VySVdpVzlDb3FSTjJVVDZPVnFMOUJLYVNMT3Y4Q1ZBQkh6czIzRDJqV1pUbWIwaG5zQlVqczRjMUxMMGRtVk5neTlOWUNIdGppeGppVVdlbCtIbmVkY3FkRUhnRjdmY0JQdDU2d2NoUHpBbWYwYVUvSjhIbitBbDcvdnBBU3NySWFjcHVCYy84amdET0g3Zk85ajE0SHNoamVxdnRBUVczRzBqeEVPcXBpblo5R21GYVJxZGJ5emwyMmJSb3Z1Y2kzVnpDYXpOQTlKeVlhSzNwVnBTMTRJSkU3dWtXdHpsZWZaN2xUWEJWcTBqU3BVdEdwdlhmOXBSeUVVS0FadXVTRS94L1p6ZlJKbmkwVEkzOXRBWUgxYUFYMm9WZnRSeFBxQlg5TGx0aDFnS0x5L3RxWG82UDFhT0x0NXo1ZklGcGVaS3pvV0xsNitnU09pd0x4MS9sYjdtYTB6bjBldmZmL2h2RldxVldqYzJ6NmlhdENrVzlZNjU1SHVVbHNiSTdhcStKeklhaXJYdmpJSy9kajZxZGh4MW85SS9wOHd2UVg3T2RpNUNLTjRsOHQ2OXdqWFlvcENESmxGVDFWRjlCQ3FCQnAzUTdDcFh3cUgxbzFkMFlzU1BWWk5Sams0Z1JZdWluWVkzaEZEOTFTVGpTOUp2SjN5Vll5a1ltWDVaT3J5Uy90SkQ5dkViVGM1amFkZDlmVGFGY2xQaFFQYVhOZHg0bENoaUVrWGR4SXlCOXFwN3ZyaDNzbmJoVU5VRUVyZ1gzbndpTllzWkorR1Y2RkJPc2V3UEFZOTFIS1BUSHliMHZMemxZRXpiUEZhd1JrMjVjMFk0Sm01TUc1b25FZ2Z0MWZmak5ya214S1BBMk1jRFI1L3lYUzk3OFBHeWxNMmJDdnhFVXFXTW8yekc2SUpyeDkySmptTjAraXNKMVpldy83eVZFV3RGQms4d0lEaklJdzFyell6R0pHbGRqbjY3azZBd1lOemRyWWRHSWMvK0xzNFJkcThUanMyaFM5M0FEaVVzNUg1a0JQQ0dQd1FjQVQxeVZRcjZCZVcwUnBKYjl1TFRua05pOVM1UjhJWi9uWTFXbStubG1CZlZoR2Y1Z2pCQWd5cFRsbFVoWlBSTm9tZzJXRlRTREVsUmdJbWtsNFdSa3hKN3c3L2tibURxWkxRekRYUkdOZzM5ZWpMZmE5a0xEKzU2VHNmdWVVcTc3VjlubzlWbWVqN0YzTGFjVUZtYnRLTHlXTHhSQ3o4K3dDZGRFZXo2eWlkWk1NeG03Sjd6eDNmTjNwNmJaRncvRmYxMnNqR0xXRWlkUzZDN1Vxd0d0eHlxU2hRTVNRMjNTU1poc2hmUDNJU1lDRmdaUXJaUDhucHlqbFVIejlJNjRQaHl6V3htWURYQkhGNU9Zd0lsSEdFcStpc0JlNlVDNksxeFpRRTd4ZFZmSzJwTmpnRVhQUTBaMERDb3FLNHAwQ0FJZjludTJNMUEwR2hEeENJc1BiWm43SksvSzVNclFkUzlsUUY3MGRZZlN5Q3E5aVFZeVNtbG81OTBxY0YyZVlONXk3WGhTbGYxMFkwa0gwVmJiNXdrVnh6UjNVNkNrMy9FRi9YTVB4cHVKeVlqTUNMVTZtaHZzb2w5TVlreHRENjVseW9sZmY3bGtUa1lYNzd2VGxlZDE3bzhXanJxNmdBTEVaT1pEb25jY3F5NTdHdUMzUS9QK2d1emx6U2c1YllqME5TVHpSQVJHRWFxRXJHdWtSb3A0RkxVMnlUQjdCVHNsNDBqRXlucCszYzRCMUpaY1c2M3JMbWpidDE1RE9mZXY4YUFXUnJGVDJpbjJJSFpuc3kyQlBaWlROUURXVThZS2pEWWtUYmJNTGUxallTb21NeVJMazFxR2s1THZ4ZjVDQlFMN25KdVBXN2Z6NzQrZjFQelZrdVY4MVI5aEJYVVNnb3pzREtaSUFMN1BpVnk1YTBmV1d0eUlXTWVjZFc5RENoV2tzMFRDNUZhL3dXZ3Y1cjBOZjkzMyt2OFovUnY3ZWZ0N3pydzlYTWhPZStXVTZ6SnpUa3A5S2F2a3dFRmZVaGdGT3FWVWN5TEFQd2pGY0h6R1l6VVFBY2VKbnNHYTFIT2w0NXh0RnhhK2xodjh3dlVhS1FCWFVnZWp5bEZQZkVRd3IxSnFTSzJNaGY1UnBRblluOEdEM01ocVRJSWJ0NU1FSXRoTGNzanpGZkJsSUpMMDlLSDZyOGFqSEdrMGs3U0JjZWxOTzk1ODdtUk9wTWNPR0psamlNWkpnaHdKQ2NYRFRuTTVQQnZKRE1ETGFzL21TQm5ldnFWak5zeE9GZlhrMW9YYS9kSFA0YWcydVZrODB0UTA3aXlLcFJnMk1vY2E3czhHUU0wc0Z2MVRCdlFWaVBIUVFqMnZIVXRValNPWkhyNmZXY3NDbWIzOWppR0VZeWpIemxSQnJkSldCcTlNc2VDN2EyRW1MS0QyY2xjaVJCQ3ZhU0J2cFhKR0lMcDZiZkhzK1ovTHVFK3J4RCtSUld2VGRJZEtFTUo3a2RRYjlRaUtzZGFoVDJZbHpJZzdDZDlBRXZqZWVCbVY5UFQzM1FTV3JBbVNTUGZuNWpGTkV5em45RG9YV2cyWm1YTytwMHgrR21oeExVS3VNSjdXc0ZvbVhKaWJlMGtoaHlsQitucHd4MGNDNVBYMHJnWVNZWlluSXpsN0pGMnY1UnFKZW5IcEdHeVBZaU41SnF0bVZSYmpqTGlEUFN4K1hSL0ZGS2hzRSsyUXFzeVZSUi9NVlB6dU1aeEszTng3Y2RXajhtb2xSN1pjc0tWQlZBb1pacnRRN3FZZ1Q0Q2dsc2hXR2VpK0RvTXdhaVZ1Uk5qUW5YRXJlWjZ4emFUTDR5Mmszck5Pb1hvWEFiNkNBaCtLeHI1ZE5mR3JzeWQxUEQ3RWR0bDQvdFFUYjZtdkRDZTZJZmVweXowN2NsNDUzb0hUM0d1RHlXWVlwMW03Q05xWkFwSTd5WU55TExEU0NjUTNjcEN2NUkwbUQ1Mm5wOE9oSXVRd0pFZlNlSHZYdmJncjk3TlhMaFAzbjEwejQvemtlQkQxNHNmR21pamV1c0g3WXUvM2RLS3dqSjJvR3I2L004blExQXgzSXVYMksvY0NhRUU1eXVreGxkYy9QTGRSNi83VzE5eFFFRVcrdlhrWGxRQTViTmZGTHN5RnpURURzVFdEU0o4MFRteUhlZjFEQWJiK2kvZ0ExQWFXY0RoRXhmeE1jcDVnYUorQWVkSDNIZTN6WlpoMXRueEVraDdnZ0pyS09BTHJwZWd0ZTNjYVFrRW9YY2pvdkZOZEVXdEVkeDFxMHNhd3U0WWtHeEVjcTdwT0hjN3ptOUdnSWlxTFBUN3lWOEpRVzY2N2gzSVV0VEtYTkJvV1J2RzlJOGUvWlJsL1pFYlRpZzJueDVZU3hXcVQvL1FlWGZMS3V3cXFheTd6VGc1OWhFQXV6d0p4QUZRZm52OEx1ZjRwWmIxOTNhQWJPcTlvc2NxbzJZSmgxNm9iNC9oYk81UmNQTlFJRnBIMHpnLzQ3VmRhK05IUlJkcG5aSE9STCtUS1FwZzlPUXNadU5XNW9MRzlIdVBWQ0E4QndYN01WYnJHakxYbnU0aWlhamVQbTd1ZFk1dDU4WEtYbFBhT1o5OGZ4bk51RlpaY3BOSGIycTVzT3drNDJkNVN2MSswems2ejNMTHNVcExmTkR0dFIwK1krR1lXL0Zhd2M3WTl5cmNXMW5QMGlxYTNxZzQzK2JtNndJUnJkWFRtZWdQNVd1b0k1MmRIQk9GL1ZHSFc0QUlIbHpIazhiVkF3dUx0aXNzZERJdDhWcVkvc3BOS0RaQTdDMXVLM1phOWh0YWJoSS9lQTl1aXJSM2gxRHU4MlI5MnlzS3Urbm52THQ5RVVkK3U5MXoreVlhTjV3dGtZeTY5OFU4bm1CN1JpYjZZTjloVkVlbXY2NE5VUmg5VFhFSUNhenN1TnlCTEYxYTlNU3RJWGY1Rlp6dmIzSG1sYVVTNUtlMmMzbkFRakRYTVJJSGg1YS9kYTlaNFQwQkU3U0VjaFB6ZFBLM1ZwaG50U2s3MGpFTXY3cFAxblZrUElkWFlzOU5mWXgvcGhZRUk4c3kwZDhVbENTNldVdWtXNWtEM3o3bGJTdGlObHlweHRtbUhqY2VvU2VWVldZeWlxc3UrRjF3NktaS1RKWGJBb1RmTWFIWDNOUTFpVWdISURsNXBKUmJObVFXSmQ2ckxvY0FSWjd3ZnZ1eEFzMEFtMTZndm1EVDNtdUlWQ1lUL2ZueDdGRlZ2VGw3cVliamUvenhnNEFFM25XSmcySHFmZXFpMTZJbjVBWm5pZ2taMEtRTGdzVUZjODZialhsRFFPOTdLTHliZEdvcW9vVmVUM050TFpUVHJLR3VJK1d1YkVRN09rRmVOOFhHMHVqelZiY01DZkwrbUdCZVBoUDloV3k3Z2tLNmRLYUtyNFBKSTYvTVFXVEtRck9odmFmdU1Qa0pTVUxLKzhRUEJwM3ljMW4wcDhYWXMwQlZJR3UzcHpFTktwUUh5dG0vb3FubUFxWW9FdTY5U3MySURWZjUxY1Vzek40UERYaElnYlVha2tIenJwdHRnM3lMVkFRbU05SEhPN2tWaUhWMkNsT3R6RUVDNWVtTEVDckJReFJ2Yzg1QnBqd0xHL2lKblRuMFh2bUdKbFo0MERYZXp2c3RDZFdET2Q2L2wyRERGdEx2Z3Blb1d1TWZneUdNeURFaEdLTkhjOGcvbzJvVWFRYVdpZmRPVmNrNEtZU1d6a1FmWnZSTkRkc01abmJ4a0VkZG1ZT29TZFZTVmdwTVRTbEllWkUwYUNHeXh4RVBsK1htOURBYjVQS1FjaDVTNjMwaGdOYithTXk4MExTOHphNE12U0MveVdRSGN1dUpFQ0lsK2dQZUZFNHVwV2VrMFoxdFh0UlQwZEt2b3lmaXV2aEcrZ3Brb2g4UUJqQjZNLzFaWnV0NEdpUHhZQ0dCVXJXVWhiNXk3YWN0amdPNlIrQWtmNmlDdW9ZN093ODlOOFlqYUVvZzVOZVRJS3Zrdk53RFVyZTZFQkJlVktmejlKQUpuRklzbWhYS3dEZUZiUE8yZ2I5cVJIUE8wWTRIVWdXYnlQV1lhcG1KUGlSUW13NFUydGxKcFZtWmd3UStLemhVVnFZU252ZVdWL3pIeHpVdnBXU1JGVUM0bnJlSzlwNVh5VzlWWVRSNnBTV0ZwL2gyRFpKbG9DRzNhR0ZEOVFWbldqRE1tMUl0STFXanNFa2tFSHBhZnRUNTZaWnMvZGwvZ2Y3K2c4L2grdXhiTWVienNpSVRmU2pwbVpkQXErT291VWF5TlRvQkNid3BJUEEwUkpKSW9DaXlMRjBDNFZvY1crUi8wVnk0S24yZ0tMR05XVmtoWXlrSXNSUi9sdGNrNEcwdGxHQkVPNnpHc29EWlMvRThKRkFhc0Y2Sjc0YkI2U3JhZzRCRklBWU45MHBhSWRub1F3S2Y5L1ZnMWdvd0VjUS9GcDBwZUVoYm9xUThrZ1JpV25YMnpWUG5PMm9pWjFqeGZGMlBWbEF3N3J2R1EydnFBZ2xvRlJrSGJGZHJQcS8wbTFaT01uMUR3a1VWck10dGtRYk1nVWhub28reDVoSm9sZkhFOXdRL0U5MGhnWmNFWUZrOVUraEFvU1Y0YmVIL3ZmZ1JYUWN5RysyT29aZVl6cExQRXcyQlBlSlRaZWE4Q3l2UnBWSXhpREsxSzV5Zmlva3BnUVJDQTIvejd1dS9VRmMxVVFJOXZDWFNtZWhEQXFWRkxSRE8zcjJOWjZwTFRod1Bra25nN3p3RXhMaUVUOEt4bHYyVFhFbVh3S0VmZ25SbzhTazZCYUxDSndFa0JHT0F1bE00d1JXVVpCSitHRlNCOTJ0SGxNTldsSUtUaVg0dWdZeWxZT2NrZE9DTFlOSC84djlxbVJJSWVUZkYzWkRBM1VqcnZMK3RlOWQrQ1ZSUlhreWNVbEM0OE1UclFLZzZwOFdCOWQ5TlpXNHdiMGphaWo0SkhJVitQZ3U3VEc2YWM1WE9lbjh1Z1E0czFyM2RMNllFUWtQZE5qQjJkQjFZSmxPY0Fja09pbW9aSzIwK082d25YeWhJa3lIdDg3RW1MeVpZNlFwcjFLdUVTM0NvcEN1U2lYNHVnUzZQTzZPR3BCTklZTjl4M3V3aU55VVFPb3VFTWp6NnRJU3R4TzI3NVVFL2kwOFJSOE1GMEh4aFZsS1NVV3hNbk5zdWpQeUpsOEMyL3czaHJYZVYwTEdZdDF6cHlVUWY3MGdlalVGNHpyL3VJQjlaWUNKZUFqOHFsWVFwZ1d6T045eS9qaWFUZUxwVUlJME9sQzVadTdxRDY1T0FwbFJpbThSNTRIamlJOUpWSWx3YTdRcVowYW5nWktKUEVXblVaaXF6cU43bmhPT09sVUMycmNrejIwMEpITjYySFcvaFgxRERRejh2MGpnb0ZCSTRVRms5VlVSVlNhK3ZtMXBFdWNKQTdQVkNZTmswL0NKUnJ1NGQzd3ZpMWRFWkhRellGazB5MFljRWFzRk5nWFMyN28wUi9SQTNYbkpKOENnd0duTmR1UUNHQkJidHEwT3grVW1nUU1HaFNQTndvTW9acVZYRVdRQitRSXAzaVc1aXhmQVNSTFJtbHpnUHZFWFBaNFFTVEc2eVR5V05WTkp3b0FXZ2dhakxSQi9CMkpzQzBjemV4Vi8yak1DQVdCM1lWREpsU09EcWNSZld0M1FrWGFJOWJiTEVRd2xmdCtoc3VUdnZhNlN6SFNsd3ZCRG9oVnJ4aFFPeGQxVjZFQVFGVGRaSnJKT1dRMXZWUkI1Q0xzMUFLeE45dFlRdGNNL2d2VHFxSHhLdkEvR0VwRC9KSmZBSEJXTjNZWGhEUG5kRW50MDNwZlBLY25qVWVnU1JGWHBYa1czTUF2aStLTURkM1BLSFlNZ2xyNW9ibyt0N0NycEtSRWVWMGhUMDVsV2FGMmthRHZ3Nk5Sc3kwVmVSRzBGbjl1NHcyUWFqampwT0I0S3ZVc3U1OHJRaHROb2FtMEN2Ry92QklGTGtvVU9IM1E3cjBBcXJNVHhjOHk4UkVFN1o1KzI5Y0dCdmkyZlpiOGVZc2xXTlNHR0MzUmRwZWtjblJSYVdLdG14azRtK01SWkJZYWJ1QzdGYXdjK09PQWxzcXhnRDF2T2gwYVFFdHBsa1FrVnF5MjZRbVcxRkJNOVhMS3FwUWk5VlpUc1pqWmxMLzA3RFZkQTFEdTdOeHgwaTNuM1RiZkVRcTF0SFU4aXFYSVVEQ3poa3BLc3FNdEVISi9jVnF0bE1OVWYyUStKbjRhcXlyeUZ0VkFMTExyK2haL1lJdDhtOGlWTEVBNmtFYmlpTEM3dG16Z1BBOEI4WGRIRm1relNEd3VYaHJSL3lMUHV0eHhyK2VIdG8zNFllTHNTQVBBdnlyNXZPN1piQ2lMMDYydXMwR24xMHRrWnd6V0x5WExqUkZjNk9PQjFZVXFzYTBFTkVBbGU0ZVFqUmVJWmdoKyt4UmJKeWo3MWJkbzFJSU4rRGo0Z2lEU2lhZnd1RGgzckFzU0cxajFSNXdMUHN0eWx0Ukd2cDBWOVE1U3FGc1YxVnVRTC9GQm9GOEdvZXh2WCsrNXlqWDFMMVNLV2w3eUpCRjRXSWEwaG5LRFB5ZWdqalRad0VRc2ZkOUhnSVE0ZElZSjh2MDhvdmxqZ1FSRXA0cjZ5Z1RuM2hvcjNOZ2Rpdit5a21EYmV3UXNoNGw5M0ZoYzd0OEhUSDljZ0wwaWxDcWEwVTNHNncrc0hyY0VtZ2dza3E5WnNqcjFzL28rcVJTa3ZmUmRLV3I0dUdjNFl5bVBJR293ODNUZ0x4Nk1WYVU5V05pS3hCQ25ITkNmVXkxQjR6UEFhcTFQQlVWSmR1SEhkVnBuekkwakF0YVVnRjgveEFnYmlPeWdIUGw5M0hlNDU1TDk2RnBsNGRXMWpURkxFQUFVZHVpclJWTE4vcnBWVTQ4Tk4xNSttdWhIQ3QyZ0hKTWtjcENYM2VwT29FYjRPZ0NLYzdmU1B3S2NTTmVaTk1tN2FTRjNnVS9PRkJob1F2ZkxuTkFqUHIzTExiRlpGbktCb2lGM2pvZEZLR3A3RWplckJrQ3hGQXlUbFBJV21OMlhiQTh3S2MzV0VtSHJwNTRHR3lPVSsyeDBCYVcyNmQ2ODhZQnB4WDBTRHU4Z05TL2trNHNOalVuYmQwOURtMXZ1S2VSMzdXYnMxVWhuQlBpQnJZaGNmYzliaTJLVlFmZS9hOGNQVVppT1dPdGVoS3dUZUZiTENKbEJMV3p3L0VISDNWdzJqMXVmTGsyYmFuS1kxQWM5TzE5a1FMaHBzM0wrSDBOZlNpdWlXcm9JVGxsSXgrS1hGVUVDeFdKR211cTQ1QXMrMElLS1M1alBPQ2RQUjUyN29pSnJEUDFqMlZINEx2Z1pTT2d4VWtaYWt2bEJOYkZuWjFWN0ZaUTNEbGt0VzVCTDcrVjRDNnBhNlhTaDNLcHViOVdsV3BFbjlBNG1iUHBWSmp2KzRIZHp6QmYzZWRMWnFGdC9Fc3k4ODVIM2RGckVLa0JmL1VLMERoRGVtQ0pDb3czeDd3OUZKWnpmWjR1d1FBODlhcHprNUhuMk5yYWdhRnBEQTdpWTRRaVJHRy9BOFBQOEVlM3FzZWZwZFZlUGhSeUpwejlPR0hCOWFUb3ZqbmdHdUlRdllZdjRoSDJIU09Ic1ZzNko3NTVoelZHS1hQc0ZiTzhZZC9sbVZ3OWZYNUVFSzc0NWEveUtGL2hMWit4TDVVdzdYcjZqWVhndjFVSFdGMDhxSTJGN1A2YTJEMW5iZldSVENjVmM2citSUHVqeDUzNFkzeEs2TFdjNVZiTFZtb3dvRW9VaCtpc1BwMDlEbm1XVDlIbXBoRm5DRkpmanZzMGJIcjMxeHJucWNQbU5EeGkwVlBpazJJNE0rK3VNbk9BUHdMRkdNSndhdTl5a2kwdll4d05LdEV3YkQ2QjV6YkE4djZrYWEzeFpBVjRSS3RXT09CVzhKL05qV05CTmZBZG43UktuN3hxQVhadU5mcWUxTzNDenZrNnRGTk54M0gzdWNZOU44bDIva1ZmUGIrRmVjV2U0bThTNFlEV2I0dlhoRzNNaVY5dDYyd1c5ek1EUDVjSjBaMzR1RjNqdGg1dkpjdjRIVFRKZWVDZXh6dkJjeGJRMUhNSk5CYXd2UEY5Wk1zL2FJajl1L01EbHBkdnR2bUVzaGc3N3Q4UVVoZ3o3VEkrbzV6R1p1NDlJQmRrMkgwTGlJYldDT1JVeXNqQnhYckhpQjhpRjdZVGxtWmI2anBrOFdYOWNvYmV0c00zSGZCc2ppR0RhbWRSdDJrcktvcXl3T05VOUpuWkRIamI3SDd6RjRWemFJMjJmQ1BlSWFwcitLZnZOZCszVXNUTm9kcGYxNEgvYUg3bkh0K2VhQ1Z6Y25wRkFKYkkxVkx5cjN3U2ovK1h2dFZYMlhwdVE4ZVAwWWdZUkZvZERhM2FhVktMejFVUG43VDExUWVLZUo3V2RDdEtxekl4RWk2TjE2VHBQUlpMSEZQSXpOam1XVlRlZWpqYjJhUlFCMVZUQzdSZytqSjZSVGh5SDJLMGRiMEhLMHgwakFNdTdTb2Q1WG1vdEt3VjdaVmZVbjNZVkxUWit1R0J3cnQ3S1ZLTlBydkczNUJmMXErK2pFVzZNODNCSEZUYWd1b3pHMEt0S3NMSkszUzArdTZ6MjBOSlVvZHpwL0RPMUpUcFhYTkRrUm9ZRi9WUmFWTStteHhxUnZWWU1yck5od1k2K0dYZXg1dWVQVllhMnl5RGhHQ2VFMU93dWJtR0p4bGZUT2trVkc4b0syOXdPczlOQUJDczFCV082b1NicGJLc0MyektlbkR1UkttTU1VM00ra1lQNlRxdWhRbnc0MjY0YzRHVUwydWxqYWdrSjZsRUluL3VMcXQ2MDZyVHFTS0l2U25ONm0zRHZyUFVaRFU5SzJTam9naW5ZVjB0QjlTdExXblBGbUdWS010VWthOHNTZTdnSGlodEFsWllTR3BKcWxUUllhR3RrUVpseGhTRWdnTFhhSU5VdE1Yd1hPS2JJYlNNWDdJcWxxUm1qeFRGdlJwTFlEZ0dwbjNZRGJxK3JtdXhRY0RXdk9pb3JFRXRwRjhDdXlUdFl0aTJRd2VwYVRQUE95cm9iMmQvb3FTTVNVWkk2NmZwSmVHZVcxZzBEZXliYm9PcG0rT1lZWllvZ2Q1VGxlZDFySXV4d1pGTFV2RGdRaXhLNHZBaFVwSm4zMlllcUNSbWFrTW9samRpQUZqOTBwRTdiaXJFQ2FwUmVJc2xyZEl2VzFNMnFab0VWQ2E3QmsrNi9XYnREWXlUU3hQaExtUEJqcHdTdnB3cVlobTExSE9RTzZhb1JDTUlUZU5oMnhVanp2YmNMWWlVVDZnV1Y1bHVvZVZ0U3NicXlMQnVIYU4wRWU5Rmd6bkwzVzNWL0JpdHRyekFSTWlIWDFzNkZkYkgweVUwNTh2NjhzRHhvQy9vVy8vTUdySG54MmFFNXRHWWdQbmNEMDlFRVdmZlp2ak9EL3hPWkZsOTZyaFl0QTZtUzRZMW1NaGNoS1F6YkRLL1lrdk9zNzk3cWFJVDN3U1J1RHJTUjFQcHFMUFRyZzVRVy9QMStrWHVHREZDTTdxM2NGK3pLUXhMcjFoMnR4aWxNcUZsY2l1RmtlT05UbjMyaUswbG1OVXFBdTZhQmkraXduTlFCZ2sydlZyaExDWFRFV2ZmWHV5NThjMUt5Vjk0M0ZvNDU2endmSjlyV2pDR2JpMzNWQVM2ODdGSzVkdG9iR3VzVDBPK0hQaWZRcGZwcC9YMFFxU0xna01YbG45S3FtTVNMTDl0dks2K0tHZElOQTA5TmxlMm00UXNwa29pL1JEL3BJSllKSjViWXlzYXNhNElqR2sybkcrTlB1OFJQZGc1d3lCaktFUVhaMkNQdHVubStDOWlhWjdkbXNqL0pDTkw3a3YvQWw3YWUxc3MvNWEvRmJiVldNalVGV0xhbWQ4bENub3MzMjgrdGJhakgwNFc4M0QvSkF2L1BsRDNvUnp3cS9uU3NiMXFmNnR1QWRRTjBiMHg2MjRGcVBVajA2ZmJiV3VqVUppcW1EeGxmVTd6T3ZCUjM3alN0a1RQOXowS1d2aW95OUdoeWRqNlorTHMxdkpWMGV4eUZJQXBLQ1B2N2hOUVdoS211d3FTUXRMYlozd1VFc1pGY0p1VEdpdGt5aGttSDdRbzlOZk9lbTNQUDNneHQ0U0FkYlk2NlRqQktzWmphTDF5UGdtL000SkQyaDArc000dFQzMjUzNTZFSXFRV3BRWURrNjR1MFg3VGphS25ValBvcWZ0cDhwR0tiajF5UFRMNDNUR2cvdDBha3V2UllrZXJ6dDVFNlZqK0txamNxL3dycWdXbjJsRjFZNmpibFQ2Q1JlVHg5RzFIRWNpRGl4bm5JWVRFVGxGUU1Ob3MrRVU5WFJtdWxLSkRhaE1GU3VTN1dhWXFpR2Y5c0VzWlBTR1QvdjQ5UDR0UnkyTDZxQjU3b1E0VUxTZk9TRktwNEZNYWJZMC9tbGdlWHdmcnNVdjdzWWpPU01RUy9ITGlHZGtKTlBVellMOTZta2FUdVJZMnNmZHlQcTg4Z1hod0xXVGp3RzlJT1BFUnAzeVcxNGd5am5aS0E0VTM5T0txcDZpdXNJcnBtZ3crVkJ5RHVRY3lEbVFjeURuUU02Qm5BTTVCM0lPNUJ6SU9UQVZITmo0TVZ2MzFkWXFyYWtZV0Q2SXM4R0J6NWV4USt1QTlMWFlQTWtqUEFqaFBEbVRIT0FmaU5mSTJDTy9KeWR3ZVRMbndCZzRVS2djdmEraW55UTBqRDlnY2d5RWN4UTVCMXdPekI4ZnNQL0lwYk53UGNtaEdEbjdjZzZNaHdQck94Yit0Vm1jMHVMaW5QSC9IQmdQWDNNc1VSejRrMGZ2dTR6ckh2RTkyYWIyS1NzK3JSdEV0YzdyY2c1azQ4QmNrMytkcEQ1VDcya0gyNjFxOHBpTlZ0NDY1NENQQSs1SldWd0d4WmFoa3ZiVjBERGppUm8raW5sQnpnSENnWTJ5Yy9UdWZ5SUZTRGExZzVrYm1qenFrSGt1NTBCV0RwU2NXL0E5dEF2SE9wTWkvSjN1dGxhZFozSU9qSkVEeTg3eHdFUzNycDJ3alRORUQwMklQSjl6WUZ3Y3FBY2NxREt2R1g1RFBUUXpMc0k1bnB3RGpBTnp4dkhlTGxjNjJnbmJsZHdWem1WbFBCejQwd3ZmN3lFcS9KbkFXQTJhWVp2MFZDZEVBMk1PUmhPNDhudk9nVWdPL0pWenhmbHVEdEdSSWVaeWdIVEI5UmdvVFBnSDBzaFRxUlJrbnNvNUVNV0JZdmtEVnRuN1VOOFdtbTlPKzZjWXJ6bWNtRUxEelFBQUEyWkpSRUZVRTRLbzd1U3J3b1FkZVRJMUIxYWg3UnA4d3dIK1JzQ0x0c3lMQkVVN1QyM0RKY1NxYTdRMlQrY2NTTWVCMGphTE5OZFlZK3dBN0xJNy90VW42TmhJN2E5K3JrTUNCeTVzL3BOeklCTUh5aTM4L3hvUHZhaUYzbWJRWVVIYVgvMDBJSUdaNk9hTmN3NjRISmlEdG9PTGNaNWxOdVZmcVFTWmVKb2p3bzZjRHRLVE9WZHpEb3pJZ1FYOFBRUCtMcTdMbWcyRm9iZEV3eTRDb2VhSXRDR0JDZjkvVGJUUDd6a0hnampRMjdLc2VVK2Q5Y1ZXZ3puaEU5TVdtMVRreXNmNXZnVEtuRHlkbWdNZndkcXUwSDFOTWZtZUMzS0ZTK1FQdGxhY1Y1Y0ZjR3JTZWNPY0F4NEg2dDVxbXkwbVgrMXZJekhmdXZzRHFTUFNkLzc1aFA5bE0zOVkwOHdCbTIvN0V3NEorM2RIL1dKLzVZVmc0WUZnd3BMekRGd1IxM3NSUmZrOTUwQnFEa0NZWE5tYWs1dGRscDJMN1BzUWNkMnpEOXpZak5VVkpLNDVOWm9WeGZrOTUwQXFEbURPZGR1dHlPMS9RWGJndkNQUDJDN2F0L0haSEYyaVMwVTNiNVJ6Z0hOZzNybnRKc1NkN2MycStaalQ5cUJRY1FPYm8zc3lkdWlEekF0eURvekdBZUVLdDJXNFpVUDdIb1JqNjZ2TldPdy9aa29TZURSaU9YVE9BUjhIUkJpUWZBbG5QK3VEYXNnTjBxdE1QaHY1M2l3ZmkvS0NsQnlvZTVHOUJndjRQYkREc05TZjgrR3FDQjFZckxEbE9KdEVCMzJ3ZVVIT2dWRTQwUFMrZVhPRE1nMVhBb2RIUGdTMnNBTnZNQldJeitZdStVRHlncHdEcVRqZ2JiNUhPUEFRdXMxRnNlcDNSV3pQK1MzWWJQczB0Z2RDRHZNcjU4QTRPTkRnZTdPd1AySEgydUFiWGdwK0s2L2liVi85UXpkNGlLMkUrK09nbmVQSU9XQlp1MXlZM0s4dmw1L2hIS2tmdFF6V05CMTNzdjZNOHoyc0FqSEVtZ0dRWjNNT3BPUkExZlZFaWpaYjlKamY0a2dXbmU4d3NQV3hJYkJyemJsenNHVXQ1aEpvOENmUHB1ZkFnanZsZnVRcEc0Y0Q5bXNjVDdGOHRLTmo3R0dwK000anRuZVNBazRTZlBuZmJPa1FlUzduUURvT0ZKempGcjRST2V3NHRTWHBBMThUd1JlQkUyWWlydVB6UEk5dk5jbE9CUUdUMzNNT3BPTEFONXhianp1dndWcmNuZVpyQklKaTAzbEZWMlRjZXhNeWQrdkFLOElzN055dlZlZVpuQVBwT2ZESjd6MytMYlIrc3Z6S2xrUUNuWGZuYXpLSHhOb1RSMjhjaUFKRVk5NHMwdms5NThCRU9QQXhxRG0rUzB1ZTRrdm8vUDRQazB5ZXpEa3dDUTQ4Q2UrWVgyeUhhbjdsSERoeERteDgrVDR1Z2VJVTN4UHZRVTdRK3Y5MzdVajA5Y2lBbGdBQUFBQkpSVTVFcmtKZ2dnPT0iCn0K"/>
    </extobj>
  </extobjs>
</s:customData>
</file>

<file path=customXml/itemProps5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1142</Words>
  <Application>WPS 演示</Application>
  <PresentationFormat>宽屏</PresentationFormat>
  <Paragraphs>69</Paragraphs>
  <Slides>7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汉仪旗黑</vt:lpstr>
      <vt:lpstr>黑体</vt:lpstr>
      <vt:lpstr>汉仪中黑KW</vt:lpstr>
      <vt:lpstr>Gotham Bold</vt:lpstr>
      <vt:lpstr>Times New Roman</vt:lpstr>
      <vt:lpstr>Arial</vt:lpstr>
      <vt:lpstr>等线</vt:lpstr>
      <vt:lpstr>汉仪中等线KW</vt:lpstr>
      <vt:lpstr>宋体</vt:lpstr>
      <vt:lpstr>Arial Unicode MS</vt:lpstr>
      <vt:lpstr>汉仪书宋二KW</vt:lpstr>
      <vt:lpstr>Calibri</vt:lpstr>
      <vt:lpstr>Helvetica Neue</vt:lpstr>
      <vt:lpstr>等线 Light</vt:lpstr>
      <vt:lpstr>苹方-简</vt:lpstr>
      <vt:lpstr>微软雅黑</vt:lpstr>
      <vt:lpstr>黑体</vt:lpstr>
      <vt:lpstr>Office 主题​​</vt:lpstr>
      <vt:lpstr>2_Office 主题​​</vt:lpstr>
      <vt:lpstr>多核平台下的并行计算课程实验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朱强</dc:creator>
  <cp:lastModifiedBy>高艺杰</cp:lastModifiedBy>
  <cp:revision>130</cp:revision>
  <dcterms:created xsi:type="dcterms:W3CDTF">2026-04-02T14:32:18Z</dcterms:created>
  <dcterms:modified xsi:type="dcterms:W3CDTF">2026-04-02T14:32:18Z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D4A93588CC854C0CB1CD3FF40F8BE08E_12</vt:lpwstr>
  </property>
  <property fmtid="{D5CDD505-2E9C-101B-9397-08002B2CF9AE}" pid="3" name="KSOProductBuildVer">
    <vt:lpwstr>2052-12.1.24709.24709</vt:lpwstr>
  </property>
</Properties>
</file>